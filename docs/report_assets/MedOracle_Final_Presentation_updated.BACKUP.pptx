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8" r:id="rId6"/>
    <p:sldId id="271" r:id="rId7"/>
    <p:sldId id="261" r:id="rId8"/>
    <p:sldId id="269" r:id="rId9"/>
    <p:sldId id="262" r:id="rId10"/>
    <p:sldId id="263" r:id="rId11"/>
    <p:sldId id="272" r:id="rId21"/>
    <p:sldId id="273" r:id="rId22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91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845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1.xml"/><Relationship Id="rId22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7256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1985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675120" y="-731520"/>
            <a:ext cx="2377440" cy="2377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0" y="3474720"/>
            <a:ext cx="1645920" cy="1645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MedOracle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Emotion Recognition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Explainability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278892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278892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43000" y="278892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71600" y="278892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063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Suhira Balarajan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3101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214206G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3493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(EEG+GSR)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331720" y="30175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23160" y="3063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Vanaiyan Kirupagaran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23160" y="33101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214215H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423160" y="3493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+ Fusion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206240" y="30175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97680" y="3063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Adshaya Balarajah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97680" y="33101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214024V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97680" y="3493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+ Web App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416052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Moratuwa — Level 4 FYP, 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38912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Firdhous M.F.M.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164592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A"/>
          </a:solidFill>
          <a:ln w="12700">
            <a:solidFill>
              <a:srgbClr val="F2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0972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170432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338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11556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Single-modality systems are unreliable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408176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EEG-only or video-only models fail when signal quality degrades. Real environments are noisy.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2404872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36829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3500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explainability in clinical settings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642616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cannot trust black-box predictions. SHAP explanations bridge the gap between model and expert.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3639312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6027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58444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graceful degradation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877056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fusion models collapse when one modality is missing. MedOracle falls back gracefully.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89320" y="1005840"/>
            <a:ext cx="2743200" cy="3794760"/>
          </a:xfrm>
          <a:prstGeom prst="roundRect">
            <a:avLst>
              <a:gd name="adj" fmla="val 2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80760" y="1143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MedOracle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44768" y="187452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19088" y="181051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EEG, GSR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facial video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44768" y="258775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19088" y="252374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with quality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44768" y="330098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19088" y="323697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modality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44768" y="401421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19088" y="395020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signal is poor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A"/>
          </a:solidFill>
          <a:ln w="12700">
            <a:solidFill>
              <a:srgbClr val="F2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4630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+ GSR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(DEAP — 32 subjects)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84832" y="1417320"/>
            <a:ext cx="3200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rot="5400000">
            <a:off x="2377440" y="1353312"/>
            <a:ext cx="164592" cy="182880"/>
          </a:xfrm>
          <a:prstGeom prst="triangl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42032" y="9144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06040" y="9601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Physiological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(Suhira 214206G)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13716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BiCrossModal Attention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EEGEncoder + GSREncoder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170078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Macro-F1: 0.4171 (random split)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0.1791 (LOSO)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81144" y="1444752"/>
            <a:ext cx="3200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rot="5400000">
            <a:off x="4873752" y="1380744"/>
            <a:ext cx="164592" cy="182880"/>
          </a:xfrm>
          <a:prstGeom prst="triangl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8600" y="2736167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781887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Video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(CREMA-D + RAVDESS)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84832" y="3056207"/>
            <a:ext cx="32004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rot="5400000">
            <a:off x="2377440" y="2992199"/>
            <a:ext cx="164592" cy="182880"/>
          </a:xfrm>
          <a:prstGeom prst="triangl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42032" y="2553287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1C6E7A"/>
          </a:solidFill>
          <a:ln w="12700">
            <a:solidFill>
              <a:srgbClr val="1C6E7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606040" y="2599007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— Video + Fusion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(Vanaiyan 214215H)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06040" y="3010487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+ BiLSTM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Confidence Fusion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06040" y="3339671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Macro-F1: 0.6615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81144" y="2889504"/>
            <a:ext cx="32004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rot="5400000">
            <a:off x="4873752" y="2825496"/>
            <a:ext cx="164592" cy="182880"/>
          </a:xfrm>
          <a:prstGeom prst="triangl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47488" y="1371600"/>
            <a:ext cx="2194560" cy="1691640"/>
          </a:xfrm>
          <a:prstGeom prst="roundRect">
            <a:avLst>
              <a:gd name="adj" fmla="val 432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20640" y="1426464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— SHAP + Web App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(Adshaya 214024V)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184708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Fusion Layer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(confidence × quality penalty)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2231136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SHAP + FastAPI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+ LLM Chatbot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20640" y="263347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emotions: stress · calm · happy · sad · angry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269480" y="2148840"/>
            <a:ext cx="256032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 rot="5400000">
            <a:off x="7498080" y="2084832"/>
            <a:ext cx="164592" cy="182880"/>
          </a:xfrm>
          <a:prstGeom prst="triangl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680960" y="173736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726680" y="17830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8600" y="475488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DEAP (32 subjects, EEG+GSR)  ·  CREMA-D (91 actors, video)  ·  RAVDESS (video)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A"/>
          </a:solidFill>
          <a:ln w="12700">
            <a:solidFill>
              <a:srgbClr val="F2F8F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&amp; Label Harmonization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8288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681091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54243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DEAP Dataset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110859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074283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subjects, 40 trials each (60s per trial)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357747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321171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EEG: 32 channels @ 128 Hz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604635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568059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GSR: 1 channel @ 128 Hz (resampled)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851523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814947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Valence · Arousal · Dominance (1–9 scale)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098411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061835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19,200 windows (4s × 15 windows × 40 trials × 32 subjects)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681091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1754243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CREMA-D + RAVDESS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00600" y="2110859"/>
            <a:ext cx="91440" cy="91440"/>
          </a:xfrm>
          <a:prstGeom prst="ellipse">
            <a:avLst/>
          </a:prstGeom>
          <a:solidFill>
            <a:srgbClr val="1C6E7A"/>
          </a:solidFill>
          <a:ln w="12700">
            <a:solidFill>
              <a:srgbClr val="1C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83480" y="2074283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CREMA-D: 91 actors, ~7,442 video clips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357747"/>
            <a:ext cx="91440" cy="91440"/>
          </a:xfrm>
          <a:prstGeom prst="ellipse">
            <a:avLst/>
          </a:prstGeom>
          <a:solidFill>
            <a:srgbClr val="1C6E7A"/>
          </a:solidFill>
          <a:ln w="12700">
            <a:solidFill>
              <a:srgbClr val="1C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2321171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RAVDESS: additional video data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604635"/>
            <a:ext cx="91440" cy="91440"/>
          </a:xfrm>
          <a:prstGeom prst="ellipse">
            <a:avLst/>
          </a:prstGeom>
          <a:solidFill>
            <a:srgbClr val="1C6E7A"/>
          </a:solidFill>
          <a:ln w="12700">
            <a:solidFill>
              <a:srgbClr val="1C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83480" y="2568059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original labels: ANG, DIS, FEA, HAP, NEU, SAD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851523"/>
            <a:ext cx="91440" cy="91440"/>
          </a:xfrm>
          <a:prstGeom prst="ellipse">
            <a:avLst/>
          </a:prstGeom>
          <a:solidFill>
            <a:srgbClr val="1C6E7A"/>
          </a:solidFill>
          <a:ln w="12700">
            <a:solidFill>
              <a:srgbClr val="1C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3480" y="2814947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 label dropped — no clean mapping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3098411"/>
            <a:ext cx="91440" cy="91440"/>
          </a:xfrm>
          <a:prstGeom prst="ellipse">
            <a:avLst/>
          </a:prstGeom>
          <a:solidFill>
            <a:srgbClr val="1C6E7A"/>
          </a:solidFill>
          <a:ln w="12700">
            <a:solidFill>
              <a:srgbClr val="1C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83480" y="3061835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~6,250 usable clips after filtering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619619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323697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625203"/>
            <a:ext cx="8343900" cy="20824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0050" y="3793332"/>
            <a:ext cx="5757863" cy="130549"/>
          </a:xfrm>
          <a:prstGeom prst="rect">
            <a:avLst/>
          </a:prstGeom>
          <a:noFill/>
        </p:spPr>
        <p:txBody>
          <a:bodyPr wrap="square" lIns="78581" tIns="0" rIns="0" bIns="0" anchor="t">
            <a:spAutoFit/>
          </a:bodyPr>
          <a:lstStyle/>
          <a:p>
            <a:pPr>
              <a:lnSpc>
                <a:spcPts val="1097"/>
              </a:lnSpc>
            </a:pPr>
            <a:r>
              <a:rPr sz="731">
                <a:solidFill>
                  <a:srgbClr val="94A3B8"/>
                </a:solidFill>
                <a:latin typeface="Inter"/>
              </a:rPr>
              <a:t>Datasets used: DEAP (32 subjects, 19,200 windows) · CREMA-D (91 actors, 6,250 clips) · RAVDESS (additional video validation).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7194" y="1632347"/>
          <a:ext cx="8329612" cy="20681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2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686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FFFFFF"/>
                          </a:solidFill>
                          <a:latin typeface="Outfit SemiBold"/>
                        </a:rPr>
                        <a:t>Unified Emotion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FFFFFF"/>
                          </a:solidFill>
                          <a:latin typeface="Outfit SemiBold"/>
                        </a:rPr>
                        <a:t>DEAP V/A/D Thresholds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FFFFFF"/>
                          </a:solidFill>
                          <a:latin typeface="Outfit SemiBold"/>
                        </a:rPr>
                        <a:t>CREMA-D Label Mapping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FFFFFF"/>
                          </a:solidFill>
                          <a:latin typeface="Outfit SemiBold"/>
                        </a:rPr>
                        <a:t>Psychological Foundation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686">
                <a:tc>
                  <a:txBody>
                    <a:bodyPr/>
                    <a:lstStyle/>
                    <a:p>
                      <a:pPr algn="l"/>
                      <a:r>
                        <a:rPr sz="800" b="1" i="0" u="none">
                          <a:solidFill>
                            <a:srgbClr val="F87171"/>
                          </a:solidFill>
                          <a:latin typeface="Inter"/>
                        </a:rPr>
                        <a:t>Stress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Valence &lt; 5, Arousal ≥ 5, Dominance &lt; 5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Fear (FEA)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Kreibig 2010 (High Arousal Negative)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686">
                <a:tc>
                  <a:txBody>
                    <a:bodyPr/>
                    <a:lstStyle/>
                    <a:p>
                      <a:pPr algn="l"/>
                      <a:r>
                        <a:rPr sz="800" b="1" i="0" u="none">
                          <a:solidFill>
                            <a:srgbClr val="38BDF8"/>
                          </a:solidFill>
                          <a:latin typeface="Inter"/>
                        </a:rPr>
                        <a:t>Calm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Valence ≥ 5, Arousal &lt; 5, Dominance ≥ 5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Neutral (NEU)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Russell 1980 (Low Arousal Positive)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686">
                <a:tc>
                  <a:txBody>
                    <a:bodyPr/>
                    <a:lstStyle/>
                    <a:p>
                      <a:pPr algn="l"/>
                      <a:r>
                        <a:rPr sz="800" b="1" i="0" u="none">
                          <a:solidFill>
                            <a:srgbClr val="4ADE80"/>
                          </a:solidFill>
                          <a:latin typeface="Inter"/>
                        </a:rPr>
                        <a:t>Happy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Valence ≥ 5, Arousal ≥ 5 (Any Dominance)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Happy (HAP)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Mehrabian 1996 (High Arousal Positive)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686">
                <a:tc>
                  <a:txBody>
                    <a:bodyPr/>
                    <a:lstStyle/>
                    <a:p>
                      <a:pPr algn="l"/>
                      <a:r>
                        <a:rPr sz="800" b="1" i="0" u="none">
                          <a:solidFill>
                            <a:srgbClr val="A78BFA"/>
                          </a:solidFill>
                          <a:latin typeface="Inter"/>
                        </a:rPr>
                        <a:t>Sad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Valence &lt; 5, Arousal &lt; 5, Dominance &lt; 5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Sad (SAD)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Russell 1980 (Low Arousal Negative)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687">
                <a:tc>
                  <a:txBody>
                    <a:bodyPr/>
                    <a:lstStyle/>
                    <a:p>
                      <a:pPr algn="l"/>
                      <a:r>
                        <a:rPr sz="800" b="1" i="0" u="none">
                          <a:solidFill>
                            <a:srgbClr val="FB923C"/>
                          </a:solidFill>
                          <a:latin typeface="Inter"/>
                        </a:rPr>
                        <a:t>Angry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Valence &lt; 5, Arousal ≥ 5, Dominance ≥ 5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Angry (ANG)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Mehrabian 1996 (High Arousal Negative)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1" y="3814763"/>
            <a:ext cx="78581" cy="928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07194" y="2000250"/>
            <a:ext cx="1236985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Rectangle 7"/>
          <p:cNvSpPr/>
          <p:nvPr/>
        </p:nvSpPr>
        <p:spPr>
          <a:xfrm>
            <a:off x="1644178" y="2000250"/>
            <a:ext cx="2697659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Rectangle 8"/>
          <p:cNvSpPr/>
          <p:nvPr/>
        </p:nvSpPr>
        <p:spPr>
          <a:xfrm>
            <a:off x="4341837" y="2000250"/>
            <a:ext cx="1782254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Rectangle 9"/>
          <p:cNvSpPr/>
          <p:nvPr/>
        </p:nvSpPr>
        <p:spPr>
          <a:xfrm>
            <a:off x="6124092" y="2000250"/>
            <a:ext cx="2612714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Rectangle 10"/>
          <p:cNvSpPr/>
          <p:nvPr/>
        </p:nvSpPr>
        <p:spPr>
          <a:xfrm>
            <a:off x="407194" y="2339578"/>
            <a:ext cx="1236985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Rectangle 11"/>
          <p:cNvSpPr/>
          <p:nvPr/>
        </p:nvSpPr>
        <p:spPr>
          <a:xfrm>
            <a:off x="1644178" y="2339578"/>
            <a:ext cx="2697659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Rectangle 12"/>
          <p:cNvSpPr/>
          <p:nvPr/>
        </p:nvSpPr>
        <p:spPr>
          <a:xfrm>
            <a:off x="4341837" y="2339578"/>
            <a:ext cx="1782254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Rectangle 13"/>
          <p:cNvSpPr/>
          <p:nvPr/>
        </p:nvSpPr>
        <p:spPr>
          <a:xfrm>
            <a:off x="6124092" y="2339578"/>
            <a:ext cx="2612714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Rectangle 14"/>
          <p:cNvSpPr/>
          <p:nvPr/>
        </p:nvSpPr>
        <p:spPr>
          <a:xfrm>
            <a:off x="407194" y="2678907"/>
            <a:ext cx="1236985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Rectangle 15"/>
          <p:cNvSpPr/>
          <p:nvPr/>
        </p:nvSpPr>
        <p:spPr>
          <a:xfrm>
            <a:off x="1644178" y="2678907"/>
            <a:ext cx="2697659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Rectangle 16"/>
          <p:cNvSpPr/>
          <p:nvPr/>
        </p:nvSpPr>
        <p:spPr>
          <a:xfrm>
            <a:off x="4341837" y="2678907"/>
            <a:ext cx="1782254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Rectangle 17"/>
          <p:cNvSpPr/>
          <p:nvPr/>
        </p:nvSpPr>
        <p:spPr>
          <a:xfrm>
            <a:off x="6124092" y="2678907"/>
            <a:ext cx="2612714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Rectangle 18"/>
          <p:cNvSpPr/>
          <p:nvPr/>
        </p:nvSpPr>
        <p:spPr>
          <a:xfrm>
            <a:off x="407194" y="3018234"/>
            <a:ext cx="1236985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" name="Rectangle 19"/>
          <p:cNvSpPr/>
          <p:nvPr/>
        </p:nvSpPr>
        <p:spPr>
          <a:xfrm>
            <a:off x="1644178" y="3018234"/>
            <a:ext cx="2697659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" name="Rectangle 20"/>
          <p:cNvSpPr/>
          <p:nvPr/>
        </p:nvSpPr>
        <p:spPr>
          <a:xfrm>
            <a:off x="4341837" y="3018234"/>
            <a:ext cx="1782254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" name="Rectangle 21"/>
          <p:cNvSpPr/>
          <p:nvPr/>
        </p:nvSpPr>
        <p:spPr>
          <a:xfrm>
            <a:off x="6124092" y="3018234"/>
            <a:ext cx="2612714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Rectangle 22"/>
          <p:cNvSpPr/>
          <p:nvPr/>
        </p:nvSpPr>
        <p:spPr>
          <a:xfrm>
            <a:off x="407194" y="3357563"/>
            <a:ext cx="1236985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" name="Rectangle 23"/>
          <p:cNvSpPr/>
          <p:nvPr/>
        </p:nvSpPr>
        <p:spPr>
          <a:xfrm>
            <a:off x="1644178" y="3357563"/>
            <a:ext cx="2697659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" name="Rectangle 24"/>
          <p:cNvSpPr/>
          <p:nvPr/>
        </p:nvSpPr>
        <p:spPr>
          <a:xfrm>
            <a:off x="4341837" y="3357563"/>
            <a:ext cx="1782254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" name="Rectangle 25"/>
          <p:cNvSpPr/>
          <p:nvPr/>
        </p:nvSpPr>
        <p:spPr>
          <a:xfrm>
            <a:off x="6124092" y="3357563"/>
            <a:ext cx="2612714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7" name="TextBox 26"/>
          <p:cNvSpPr txBox="1"/>
          <p:nvPr/>
        </p:nvSpPr>
        <p:spPr>
          <a:xfrm>
            <a:off x="400050" y="174428"/>
            <a:ext cx="874395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800" dirty="0">
                <a:solidFill>
                  <a:srgbClr val="FFFFFF"/>
                </a:solidFill>
                <a:latin typeface="Outfit SemiBold"/>
              </a:rPr>
              <a:t>Label Harmonization</a:t>
            </a:r>
            <a:r>
              <a:rPr lang="en-US" sz="2800" dirty="0">
                <a:solidFill>
                  <a:srgbClr val="FFFFFF"/>
                </a:solidFill>
                <a:latin typeface="Outfit SemiBold"/>
              </a:rPr>
              <a:t> </a:t>
            </a:r>
          </a:p>
          <a:p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5-Class Label Mapping (Russell 1980 · Mehrabian 1996 · </a:t>
            </a:r>
            <a:r>
              <a:rPr lang="en-US" sz="105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Kreibig</a:t>
            </a: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2010)</a:t>
            </a:r>
            <a:endParaRPr sz="1050" dirty="0">
              <a:solidFill>
                <a:schemeClr val="bg1"/>
              </a:solidFill>
              <a:latin typeface="Outfit SemiBold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00050" y="635794"/>
            <a:ext cx="42863" cy="20002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FA827E-15C5-BC93-487F-E345471E4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4">
            <a:extLst>
              <a:ext uri="{FF2B5EF4-FFF2-40B4-BE49-F238E27FC236}">
                <a16:creationId xmlns:a16="http://schemas.microsoft.com/office/drawing/2014/main" id="{A6EE2328-28E1-6D69-E95D-17971504D146}"/>
              </a:ext>
            </a:extLst>
          </p:cNvPr>
          <p:cNvSpPr/>
          <p:nvPr/>
        </p:nvSpPr>
        <p:spPr>
          <a:xfrm>
            <a:off x="724487" y="1719775"/>
            <a:ext cx="1170432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07E5EC6-7D4F-D45E-31D2-C989D3E306FC}"/>
              </a:ext>
            </a:extLst>
          </p:cNvPr>
          <p:cNvSpPr/>
          <p:nvPr/>
        </p:nvSpPr>
        <p:spPr>
          <a:xfrm>
            <a:off x="770207" y="1811215"/>
            <a:ext cx="1078992" cy="841248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Input</a:t>
            </a:r>
            <a:endParaRPr lang="en-US" sz="10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ch × 512 samples</a:t>
            </a:r>
            <a:endParaRPr lang="en-US" sz="1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A3C61A4-B901-7B96-57B0-1BD679121761}"/>
              </a:ext>
            </a:extLst>
          </p:cNvPr>
          <p:cNvSpPr/>
          <p:nvPr/>
        </p:nvSpPr>
        <p:spPr>
          <a:xfrm>
            <a:off x="1894919" y="2195263"/>
            <a:ext cx="155448" cy="5486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8154C9DE-3512-0354-2B0E-A18E6FD7F480}"/>
              </a:ext>
            </a:extLst>
          </p:cNvPr>
          <p:cNvSpPr/>
          <p:nvPr/>
        </p:nvSpPr>
        <p:spPr>
          <a:xfrm rot="5400000">
            <a:off x="2022935" y="2131255"/>
            <a:ext cx="128016" cy="164592"/>
          </a:xfrm>
          <a:prstGeom prst="triangle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C2ECCBD6-9344-8E62-3100-4E9ACEF401CB}"/>
              </a:ext>
            </a:extLst>
          </p:cNvPr>
          <p:cNvSpPr/>
          <p:nvPr/>
        </p:nvSpPr>
        <p:spPr>
          <a:xfrm>
            <a:off x="2199485" y="1738062"/>
            <a:ext cx="1170432" cy="1005840"/>
          </a:xfrm>
          <a:prstGeom prst="roundRect">
            <a:avLst>
              <a:gd name="adj" fmla="val 727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4B82C6AB-C8CE-6917-630A-9BFF8588CB0D}"/>
              </a:ext>
            </a:extLst>
          </p:cNvPr>
          <p:cNvSpPr/>
          <p:nvPr/>
        </p:nvSpPr>
        <p:spPr>
          <a:xfrm>
            <a:off x="2250830" y="1811215"/>
            <a:ext cx="10789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Encoder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(Conv1D + Transformer)</a:t>
            </a:r>
            <a:endParaRPr lang="en-US" sz="1000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BF79F243-804F-65B3-9312-95828FE84016}"/>
              </a:ext>
            </a:extLst>
          </p:cNvPr>
          <p:cNvSpPr/>
          <p:nvPr/>
        </p:nvSpPr>
        <p:spPr>
          <a:xfrm>
            <a:off x="3400163" y="2195263"/>
            <a:ext cx="222972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49A644F4-A2B7-298E-D28A-81E4CCAD31A8}"/>
              </a:ext>
            </a:extLst>
          </p:cNvPr>
          <p:cNvSpPr/>
          <p:nvPr/>
        </p:nvSpPr>
        <p:spPr>
          <a:xfrm rot="5400000">
            <a:off x="3641423" y="2144619"/>
            <a:ext cx="128016" cy="164592"/>
          </a:xfrm>
          <a:prstGeom prst="triangle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5AB0C7F8-815A-76EC-381C-DD0EA0D16757}"/>
              </a:ext>
            </a:extLst>
          </p:cNvPr>
          <p:cNvSpPr/>
          <p:nvPr/>
        </p:nvSpPr>
        <p:spPr>
          <a:xfrm>
            <a:off x="3787727" y="1719775"/>
            <a:ext cx="1170432" cy="1005840"/>
          </a:xfrm>
          <a:prstGeom prst="roundRect">
            <a:avLst>
              <a:gd name="adj" fmla="val 727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325DFE91-760B-CB11-2283-4D7480D2F267}"/>
              </a:ext>
            </a:extLst>
          </p:cNvPr>
          <p:cNvSpPr/>
          <p:nvPr/>
        </p:nvSpPr>
        <p:spPr>
          <a:xfrm>
            <a:off x="3833447" y="1811215"/>
            <a:ext cx="10789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BiCrossModal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000" dirty="0"/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721F396B-0F6F-038F-495C-0C9609A3AD4D}"/>
              </a:ext>
            </a:extLst>
          </p:cNvPr>
          <p:cNvSpPr/>
          <p:nvPr/>
        </p:nvSpPr>
        <p:spPr>
          <a:xfrm>
            <a:off x="4958159" y="2195263"/>
            <a:ext cx="402336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83798E74-FF16-51DC-FAA9-8271072880CD}"/>
              </a:ext>
            </a:extLst>
          </p:cNvPr>
          <p:cNvSpPr/>
          <p:nvPr/>
        </p:nvSpPr>
        <p:spPr>
          <a:xfrm rot="5400000">
            <a:off x="5378783" y="2138289"/>
            <a:ext cx="128016" cy="164592"/>
          </a:xfrm>
          <a:prstGeom prst="triangle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0C60AD19-371F-75D9-B0FE-DEA33397F166}"/>
              </a:ext>
            </a:extLst>
          </p:cNvPr>
          <p:cNvSpPr/>
          <p:nvPr/>
        </p:nvSpPr>
        <p:spPr>
          <a:xfrm>
            <a:off x="5525087" y="1719775"/>
            <a:ext cx="1170432" cy="1005840"/>
          </a:xfrm>
          <a:prstGeom prst="roundRect">
            <a:avLst>
              <a:gd name="adj" fmla="val 727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4F056F38-2F16-46D0-E5B3-AEF589C10E31}"/>
              </a:ext>
            </a:extLst>
          </p:cNvPr>
          <p:cNvSpPr/>
          <p:nvPr/>
        </p:nvSpPr>
        <p:spPr>
          <a:xfrm>
            <a:off x="5570807" y="1811215"/>
            <a:ext cx="10789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(5-class)</a:t>
            </a:r>
            <a:endParaRPr lang="en-US" sz="1000" dirty="0"/>
          </a:p>
        </p:txBody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F7F51CC6-0FE4-B82A-8546-C94A807815D4}"/>
              </a:ext>
            </a:extLst>
          </p:cNvPr>
          <p:cNvSpPr/>
          <p:nvPr/>
        </p:nvSpPr>
        <p:spPr>
          <a:xfrm>
            <a:off x="6695519" y="2195263"/>
            <a:ext cx="370332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9BA8CEF6-455A-4EF9-BEBB-F967C9C82487}"/>
              </a:ext>
            </a:extLst>
          </p:cNvPr>
          <p:cNvSpPr/>
          <p:nvPr/>
        </p:nvSpPr>
        <p:spPr>
          <a:xfrm rot="5400000">
            <a:off x="7084139" y="2138289"/>
            <a:ext cx="128016" cy="164592"/>
          </a:xfrm>
          <a:prstGeom prst="triangle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FC0CADE2-7CBB-3D52-2DD6-B045CDCEC830}"/>
              </a:ext>
            </a:extLst>
          </p:cNvPr>
          <p:cNvSpPr/>
          <p:nvPr/>
        </p:nvSpPr>
        <p:spPr>
          <a:xfrm>
            <a:off x="7262447" y="1719775"/>
            <a:ext cx="1170432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BA0A2BCC-E07D-CED7-E339-05E5930FB767}"/>
              </a:ext>
            </a:extLst>
          </p:cNvPr>
          <p:cNvSpPr/>
          <p:nvPr/>
        </p:nvSpPr>
        <p:spPr>
          <a:xfrm>
            <a:off x="7244861" y="1811215"/>
            <a:ext cx="1078992" cy="841248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</a:t>
            </a:r>
            <a:endParaRPr lang="en-US" sz="10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FEDE8BF3-4E29-2CBD-5360-8CA10E4FB7BC}"/>
              </a:ext>
            </a:extLst>
          </p:cNvPr>
          <p:cNvSpPr/>
          <p:nvPr/>
        </p:nvSpPr>
        <p:spPr>
          <a:xfrm>
            <a:off x="724487" y="2908495"/>
            <a:ext cx="1170432" cy="822960"/>
          </a:xfrm>
          <a:prstGeom prst="roundRect">
            <a:avLst>
              <a:gd name="adj" fmla="val 8889"/>
            </a:avLst>
          </a:prstGeom>
          <a:solidFill>
            <a:schemeClr val="bg1">
              <a:lumMod val="75000"/>
            </a:schemeClr>
          </a:solidFill>
          <a:ln w="12700">
            <a:solidFill>
              <a:srgbClr val="0D1B2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88D9C3AD-6C7A-479A-EAF0-FA1F7FC04FA8}"/>
              </a:ext>
            </a:extLst>
          </p:cNvPr>
          <p:cNvSpPr/>
          <p:nvPr/>
        </p:nvSpPr>
        <p:spPr>
          <a:xfrm>
            <a:off x="770207" y="2972503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GSR Input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ch × 512 samples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5" name="Shape 24">
            <a:extLst>
              <a:ext uri="{FF2B5EF4-FFF2-40B4-BE49-F238E27FC236}">
                <a16:creationId xmlns:a16="http://schemas.microsoft.com/office/drawing/2014/main" id="{668D916F-77A4-E84B-751C-435D250E440E}"/>
              </a:ext>
            </a:extLst>
          </p:cNvPr>
          <p:cNvSpPr/>
          <p:nvPr/>
        </p:nvSpPr>
        <p:spPr>
          <a:xfrm>
            <a:off x="2247314" y="2908495"/>
            <a:ext cx="1170432" cy="822960"/>
          </a:xfrm>
          <a:prstGeom prst="roundRect">
            <a:avLst>
              <a:gd name="adj" fmla="val 8889"/>
            </a:avLst>
          </a:prstGeom>
          <a:solidFill>
            <a:srgbClr val="1C6E7A"/>
          </a:solidFill>
          <a:ln w="12700">
            <a:solidFill>
              <a:srgbClr val="1C6E7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0658C584-857F-941D-56CD-1E8CC2B3838D}"/>
              </a:ext>
            </a:extLst>
          </p:cNvPr>
          <p:cNvSpPr/>
          <p:nvPr/>
        </p:nvSpPr>
        <p:spPr>
          <a:xfrm>
            <a:off x="2293034" y="2972503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GSR Encoder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(Conv1D + Linear)</a:t>
            </a:r>
            <a:endParaRPr lang="en-US" sz="1000" dirty="0"/>
          </a:p>
        </p:txBody>
      </p:sp>
      <p:sp>
        <p:nvSpPr>
          <p:cNvPr id="49" name="Shape 26">
            <a:extLst>
              <a:ext uri="{FF2B5EF4-FFF2-40B4-BE49-F238E27FC236}">
                <a16:creationId xmlns:a16="http://schemas.microsoft.com/office/drawing/2014/main" id="{E45EA260-D106-0B75-230A-E83AA0DDF3F2}"/>
              </a:ext>
            </a:extLst>
          </p:cNvPr>
          <p:cNvSpPr/>
          <p:nvPr/>
        </p:nvSpPr>
        <p:spPr>
          <a:xfrm>
            <a:off x="1908987" y="3294652"/>
            <a:ext cx="155448" cy="5486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27">
            <a:extLst>
              <a:ext uri="{FF2B5EF4-FFF2-40B4-BE49-F238E27FC236}">
                <a16:creationId xmlns:a16="http://schemas.microsoft.com/office/drawing/2014/main" id="{39BB0E7E-1517-5DF0-3382-65DDFCFA03F0}"/>
              </a:ext>
            </a:extLst>
          </p:cNvPr>
          <p:cNvSpPr/>
          <p:nvPr/>
        </p:nvSpPr>
        <p:spPr>
          <a:xfrm rot="5400000">
            <a:off x="2085536" y="3237679"/>
            <a:ext cx="128016" cy="164592"/>
          </a:xfrm>
          <a:prstGeom prst="triangle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1C91CFCB-50D6-1713-D437-26D0C36FC418}"/>
              </a:ext>
            </a:extLst>
          </p:cNvPr>
          <p:cNvSpPr/>
          <p:nvPr/>
        </p:nvSpPr>
        <p:spPr>
          <a:xfrm>
            <a:off x="3429705" y="3283399"/>
            <a:ext cx="787789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29">
            <a:extLst>
              <a:ext uri="{FF2B5EF4-FFF2-40B4-BE49-F238E27FC236}">
                <a16:creationId xmlns:a16="http://schemas.microsoft.com/office/drawing/2014/main" id="{48C00320-8DDC-7016-B0B1-4DB8634C8A4F}"/>
              </a:ext>
            </a:extLst>
          </p:cNvPr>
          <p:cNvSpPr/>
          <p:nvPr/>
        </p:nvSpPr>
        <p:spPr>
          <a:xfrm>
            <a:off x="4141529" y="2734759"/>
            <a:ext cx="128016" cy="164592"/>
          </a:xfrm>
          <a:prstGeom prst="triangle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30">
            <a:extLst>
              <a:ext uri="{FF2B5EF4-FFF2-40B4-BE49-F238E27FC236}">
                <a16:creationId xmlns:a16="http://schemas.microsoft.com/office/drawing/2014/main" id="{6A561DD2-8E61-E777-ACE8-F4EC487D58D6}"/>
              </a:ext>
            </a:extLst>
          </p:cNvPr>
          <p:cNvSpPr/>
          <p:nvPr/>
        </p:nvSpPr>
        <p:spPr>
          <a:xfrm>
            <a:off x="4178105" y="2899351"/>
            <a:ext cx="45719" cy="42976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1">
            <a:extLst>
              <a:ext uri="{FF2B5EF4-FFF2-40B4-BE49-F238E27FC236}">
                <a16:creationId xmlns:a16="http://schemas.microsoft.com/office/drawing/2014/main" id="{1F62E885-04E1-C190-F827-382DC1467BA1}"/>
              </a:ext>
            </a:extLst>
          </p:cNvPr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 — Physiological Module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61" name="Shape 2">
            <a:extLst>
              <a:ext uri="{FF2B5EF4-FFF2-40B4-BE49-F238E27FC236}">
                <a16:creationId xmlns:a16="http://schemas.microsoft.com/office/drawing/2014/main" id="{45BF7362-2049-38F0-AB7A-2BB999D78EEA}"/>
              </a:ext>
            </a:extLst>
          </p:cNvPr>
          <p:cNvSpPr/>
          <p:nvPr/>
        </p:nvSpPr>
        <p:spPr>
          <a:xfrm>
            <a:off x="457200" y="749808"/>
            <a:ext cx="16459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3">
            <a:extLst>
              <a:ext uri="{FF2B5EF4-FFF2-40B4-BE49-F238E27FC236}">
                <a16:creationId xmlns:a16="http://schemas.microsoft.com/office/drawing/2014/main" id="{E2253828-F7D4-B130-3FFC-6B37BC934121}"/>
              </a:ext>
            </a:extLst>
          </p:cNvPr>
          <p:cNvSpPr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Suhira Balarajan — 214206G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561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814388"/>
            <a:ext cx="4046934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015" y="814388"/>
            <a:ext cx="4046934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7219" y="1021557"/>
            <a:ext cx="3814226" cy="190501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238">
                <a:solidFill>
                  <a:srgbClr val="00F2FE"/>
                </a:solidFill>
                <a:latin typeface="Outfit SemiBold"/>
              </a:rPr>
              <a:t>Signal Processing &amp;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04185" y="1021557"/>
            <a:ext cx="3814226" cy="190501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238">
                <a:solidFill>
                  <a:srgbClr val="7928CA"/>
                </a:solidFill>
                <a:latin typeface="Outfit SemiBold"/>
              </a:rPr>
              <a:t>Key Design Decisions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9" y="1042987"/>
            <a:ext cx="200025" cy="15716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4184" y="1042987"/>
            <a:ext cx="200025" cy="1571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5819" y="1328737"/>
            <a:ext cx="3403997" cy="344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35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EEG Input:</a:t>
            </a:r>
            <a:r>
              <a:rPr sz="900">
                <a:solidFill>
                  <a:srgbClr val="CBD5E1"/>
                </a:solidFill>
                <a:latin typeface="Inter"/>
              </a:rPr>
              <a:t> 32 channels × 512 samples fed to Conv1D + Transformer encoder.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819" y="1800225"/>
            <a:ext cx="3403997" cy="165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35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GSR Input:</a:t>
            </a:r>
            <a:r>
              <a:rPr sz="900">
                <a:solidFill>
                  <a:srgbClr val="CBD5E1"/>
                </a:solidFill>
                <a:latin typeface="Inter"/>
              </a:rPr>
              <a:t> 1 channel × 512 samples processed via Conv1D + Linear layer.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819" y="2271712"/>
            <a:ext cx="3403997" cy="344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35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BiCrossModal Attention:</a:t>
            </a:r>
            <a:r>
              <a:rPr sz="900">
                <a:solidFill>
                  <a:srgbClr val="CBD5E1"/>
                </a:solidFill>
                <a:latin typeface="Inter"/>
              </a:rPr>
              <a:t> Bidirectional attention allowing EEG features to attend to GSR features and vice versa.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2784" y="1328737"/>
            <a:ext cx="3403997" cy="344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35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LOSO Evaluation:</a:t>
            </a:r>
            <a:r>
              <a:rPr sz="900">
                <a:solidFill>
                  <a:srgbClr val="CBD5E1"/>
                </a:solidFill>
                <a:latin typeface="Inter"/>
              </a:rPr>
              <a:t> 32-fold Leave-One-Subject-Out protocol representing strict cross-subject generalization.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2784" y="1800225"/>
            <a:ext cx="3403997" cy="344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35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Model Soup:</a:t>
            </a:r>
            <a:r>
              <a:rPr sz="900">
                <a:solidFill>
                  <a:srgbClr val="CBD5E1"/>
                </a:solidFill>
                <a:latin typeface="Inter"/>
              </a:rPr>
              <a:t> Averages weights across all 32 LOSO folds (Wortsman et al. 2022) to prevent overfitting.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2784" y="2271712"/>
            <a:ext cx="3403997" cy="344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35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Quality Pre-checker:</a:t>
            </a:r>
            <a:r>
              <a:rPr sz="900">
                <a:solidFill>
                  <a:srgbClr val="CBD5E1"/>
                </a:solidFill>
                <a:latin typeface="Inter"/>
              </a:rPr>
              <a:t> Computes per-modality signal quality flags (good / degraded / poor).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219" y="1346597"/>
            <a:ext cx="128588" cy="135731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219" y="1818085"/>
            <a:ext cx="114300" cy="135731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219" y="2289572"/>
            <a:ext cx="128588" cy="135731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04185" y="1346597"/>
            <a:ext cx="164306" cy="135731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4184" y="1818085"/>
            <a:ext cx="128588" cy="135731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04184" y="2289572"/>
            <a:ext cx="114300" cy="13573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00050" y="335015"/>
            <a:ext cx="8743950" cy="294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13">
                <a:solidFill>
                  <a:srgbClr val="FFFFFF"/>
                </a:solidFill>
                <a:latin typeface="Outfit SemiBold"/>
              </a:rPr>
              <a:t>M1 — Physiological Module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0050" y="635794"/>
            <a:ext cx="42863" cy="20002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3586162"/>
            <a:ext cx="8343900" cy="41433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814388"/>
            <a:ext cx="8343900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0050" y="335015"/>
            <a:ext cx="8743950" cy="294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13">
                <a:solidFill>
                  <a:srgbClr val="FFFFFF"/>
                </a:solidFill>
                <a:latin typeface="Outfit SemiBold"/>
              </a:rPr>
              <a:t>M1 Performance &amp; Baselines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0050" y="635794"/>
            <a:ext cx="42863" cy="20002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A"/>
          </a:solidFill>
          <a:ln w="12700">
            <a:solidFill>
              <a:srgbClr val="F2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 — Video + Gated Fusion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6459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Vanaiyan Kirupagaran — 214215H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(.mp4)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55648" y="1572768"/>
            <a:ext cx="109728" cy="45720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5400000">
            <a:off x="1847088" y="1517904"/>
            <a:ext cx="109728" cy="146304"/>
          </a:xfrm>
          <a:prstGeom prst="triangl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38528" y="105156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1C6E7A"/>
          </a:solidFill>
          <a:ln w="12700">
            <a:solidFill>
              <a:srgbClr val="1C6E7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84248" y="1115568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Frames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19856" y="1572768"/>
            <a:ext cx="109728" cy="45720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 rot="5400000">
            <a:off x="3511296" y="1517904"/>
            <a:ext cx="109728" cy="146304"/>
          </a:xfrm>
          <a:prstGeom prst="triangl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02736" y="105156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48456" y="1115568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(layer3+4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84064" y="1572768"/>
            <a:ext cx="109728" cy="45720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rot="5400000">
            <a:off x="5175504" y="1517904"/>
            <a:ext cx="109728" cy="146304"/>
          </a:xfrm>
          <a:prstGeom prst="triangl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266944" y="105156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1C6E7A"/>
          </a:solidFill>
          <a:ln w="12700">
            <a:solidFill>
              <a:srgbClr val="1C6E7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12664" y="1115568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layers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hidden)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48272" y="1572768"/>
            <a:ext cx="109728" cy="45720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rot="5400000">
            <a:off x="6839712" y="1517904"/>
            <a:ext cx="109728" cy="146304"/>
          </a:xfrm>
          <a:prstGeom prst="triangl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31152" y="105156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76872" y="1115568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5-class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P_video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89520" y="1051560"/>
            <a:ext cx="1234440" cy="1097280"/>
          </a:xfrm>
          <a:prstGeom prst="roundRect">
            <a:avLst>
              <a:gd name="adj" fmla="val 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635240" y="111556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0.6615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635240" y="16916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377440"/>
            <a:ext cx="50292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24688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Gated Confidence Fusion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2852928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28163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= 1 − H(P) / log(K)   where H = entropy, K = 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182112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31455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penalty α: good=1.0 · degraded=0.5 · poor=0.1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511296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0080" y="34747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score: g_m = confidence_m × α_m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840480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0080" y="38039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w_m = g_m / Σ g_m   (L1 normalised — preserves extreme gaps)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169664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080" y="41330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Fused: P_fused = Σ w_m × P_m   →   argmax = final emotion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0" y="2377440"/>
            <a:ext cx="3337560" cy="2377440"/>
          </a:xfrm>
          <a:prstGeom prst="roundRect">
            <a:avLst>
              <a:gd name="adj" fmla="val 307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623560" y="24688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Graceful Degradation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596128" y="2834640"/>
            <a:ext cx="3090672" cy="384048"/>
          </a:xfrm>
          <a:prstGeom prst="roundRect">
            <a:avLst>
              <a:gd name="adj" fmla="val 19048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669280" y="28895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modalities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88352" y="28895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Full gated fusion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596128" y="3291840"/>
            <a:ext cx="3090672" cy="384048"/>
          </a:xfrm>
          <a:prstGeom prst="roundRect">
            <a:avLst>
              <a:gd name="adj" fmla="val 19048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669280" y="33467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poor/missing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88352" y="33467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Physio only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596128" y="3749040"/>
            <a:ext cx="3090672" cy="384048"/>
          </a:xfrm>
          <a:prstGeom prst="roundRect">
            <a:avLst>
              <a:gd name="adj" fmla="val 19048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669280" y="38039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 poor/missing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88352" y="38039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Video only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596128" y="4206240"/>
            <a:ext cx="3090672" cy="384048"/>
          </a:xfrm>
          <a:prstGeom prst="roundRect">
            <a:avLst>
              <a:gd name="adj" fmla="val 19048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669280" y="42611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poor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88352" y="42611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Uniform dist. + flag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A"/>
          </a:solidFill>
          <a:ln w="12700">
            <a:solidFill>
              <a:srgbClr val="F2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 — Explainability + Web 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Adshaya Balarajah — 214024V</a:t>
            </a:r>
            <a:endParaRPr lang="en-US" sz="1100" dirty="0"/>
          </a:p>
        </p:txBody>
      </p:sp>
      <p:sp>
        <p:nvSpPr>
          <p:cNvPr id="6" name="Oval 5"/>
          <p:cNvSpPr/>
          <p:nvPr/>
        </p:nvSpPr>
        <p:spPr>
          <a:xfrm>
            <a:off x="731520" y="1500000"/>
            <a:ext cx="137160" cy="1371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50000"/>
            <a:ext cx="7680960" cy="500000"/>
          </a:xfrm>
          <a:prstGeom prst="rect">
            <a:avLst/>
          </a:prstGeom>
          <a:noFill/>
        </p:spPr>
        <p:txBody>
          <a:bodyPr wrap="square" anchor="ctr" lIns="0" tIns="0" bIns="0">
            <a:spAutoFit/>
          </a:bodyPr>
          <a:lstStyle/>
          <a:p>
            <a:pPr algn="l"/>
            <a:r>
              <a:rPr sz="1500">
                <a:solidFill>
                  <a:srgbClr val="2A2A2A"/>
                </a:solidFill>
                <a:latin typeface="Calibri"/>
              </a:rPr>
              <a:t>Explainability: SHAP + Integrated Gradients on the fused decision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000000"/>
            <a:ext cx="137160" cy="137160"/>
          </a:xfrm>
          <a:prstGeom prst="ellipse">
            <a:avLst/>
          </a:prstGeom>
          <a:solidFill>
            <a:srgbClr val="1C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50000"/>
            <a:ext cx="7680960" cy="500000"/>
          </a:xfrm>
          <a:prstGeom prst="rect">
            <a:avLst/>
          </a:prstGeom>
          <a:noFill/>
        </p:spPr>
        <p:txBody>
          <a:bodyPr wrap="square" anchor="ctr" lIns="0" tIns="0" bIns="0">
            <a:spAutoFit/>
          </a:bodyPr>
          <a:lstStyle/>
          <a:p>
            <a:pPr algn="l"/>
            <a:r>
              <a:rPr sz="1500">
                <a:solidFill>
                  <a:srgbClr val="2A2A2A"/>
                </a:solidFill>
                <a:latin typeface="Calibri"/>
              </a:rPr>
              <a:t>Trust layer: faithfulness verification + modality-conflict resolution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500000"/>
            <a:ext cx="137160" cy="137160"/>
          </a:xfrm>
          <a:prstGeom prst="ellipse">
            <a:avLst/>
          </a:prstGeom>
          <a:solidFill>
            <a:srgbClr val="2E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50000"/>
            <a:ext cx="7680960" cy="500000"/>
          </a:xfrm>
          <a:prstGeom prst="rect">
            <a:avLst/>
          </a:prstGeom>
          <a:noFill/>
        </p:spPr>
        <p:txBody>
          <a:bodyPr wrap="square" anchor="ctr" lIns="0" tIns="0" bIns="0">
            <a:spAutoFit/>
          </a:bodyPr>
          <a:lstStyle/>
          <a:p>
            <a:pPr algn="l"/>
            <a:r>
              <a:rPr sz="1500">
                <a:solidFill>
                  <a:srgbClr val="2A2A2A"/>
                </a:solidFill>
                <a:latin typeface="Calibri"/>
              </a:rPr>
              <a:t>Web app: FastAPI backend, React dashboard, SQLite storage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000000"/>
            <a:ext cx="137160" cy="1371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950000"/>
            <a:ext cx="7680960" cy="500000"/>
          </a:xfrm>
          <a:prstGeom prst="rect">
            <a:avLst/>
          </a:prstGeom>
          <a:noFill/>
        </p:spPr>
        <p:txBody>
          <a:bodyPr wrap="square" anchor="ctr" lIns="0" tIns="0" bIns="0">
            <a:spAutoFit/>
          </a:bodyPr>
          <a:lstStyle/>
          <a:p>
            <a:pPr algn="l"/>
            <a:r>
              <a:rPr sz="1500">
                <a:solidFill>
                  <a:srgbClr val="2A2A2A"/>
                </a:solidFill>
                <a:latin typeface="Calibri"/>
              </a:rPr>
              <a:t>Chatbot: RAG-grounded, multi-provider LLM (Gemini/Groq/DeepSeek)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0000"/>
            <a:ext cx="8229600" cy="1150000"/>
          </a:xfrm>
          <a:prstGeom prst="roundRect">
            <a:avLst>
              <a:gd name="adj" fmla="val 6000"/>
            </a:avLst>
          </a:prstGeom>
          <a:solidFill>
            <a:srgbClr val="EAF5F1"/>
          </a:solidFill>
          <a:ln w="12700">
            <a:solidFill>
              <a:srgbClr val="2E7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l"/>
            <a:r>
              <a:rPr sz="1400" b="1">
                <a:solidFill>
                  <a:srgbClr val="2E7D5C"/>
                </a:solidFill>
                <a:latin typeface="Calibri"/>
              </a:rPr>
              <a:t>★ Key Novelty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2A2A2A"/>
                </a:solidFill>
                <a:latin typeface="Calibri"/>
              </a:rPr>
              <a:t>Real Integrated Gradients through BOTH trained models (not per-modality) — paired with counterfactual, conflict-based explanation when modalities disagree.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A"/>
          </a:solidFill>
          <a:ln w="12700">
            <a:solidFill>
              <a:srgbClr val="F2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 Workflow — Fusion Output to Explanation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Adshaya Balarajah — 214024V</a:t>
            </a:r>
            <a:endParaRPr lang="en-US" sz="1100" dirty="0"/>
          </a:p>
        </p:txBody>
      </p:sp>
      <p:sp>
        <p:nvSpPr>
          <p:cNvPr id="6" name="Rounded Rectangle 5"/>
          <p:cNvSpPr/>
          <p:nvPr/>
        </p:nvSpPr>
        <p:spPr>
          <a:xfrm>
            <a:off x="457200" y="1150000"/>
            <a:ext cx="2621280" cy="1650000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9525">
            <a:solidFill>
              <a:srgbClr val="E3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50000"/>
            <a:ext cx="2621280" cy="4200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① FastAPI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15720"/>
            <a:ext cx="2346960" cy="1184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Clr>
                <a:srgbClr val="028090"/>
              </a:buClr>
              <a:buChar char="•"/>
              <a:spcAft>
                <a:spcPts val="500"/>
              </a:spcAft>
            </a:pPr>
            <a:r>
              <a:rPr sz="950">
                <a:solidFill>
                  <a:srgbClr val="3A3A3A"/>
                </a:solidFill>
                <a:latin typeface="Calibri"/>
              </a:rPr>
              <a:t>Receives prediction_output via /predict</a:t>
            </a:r>
          </a:p>
          <a:p>
            <a:pPr algn="l">
              <a:buClr>
                <a:srgbClr val="028090"/>
              </a:buClr>
              <a:buChar char="•"/>
              <a:spcAft>
                <a:spcPts val="500"/>
              </a:spcAft>
            </a:pPr>
            <a:r>
              <a:rPr sz="950">
                <a:solidFill>
                  <a:srgbClr val="3A3A3A"/>
                </a:solidFill>
                <a:latin typeface="Calibri"/>
              </a:rPr>
              <a:t>9 REST endpoints, JWT-authenticated</a:t>
            </a:r>
          </a:p>
          <a:p>
            <a:pPr algn="l">
              <a:buClr>
                <a:srgbClr val="028090"/>
              </a:buClr>
              <a:buChar char="•"/>
              <a:spcAft>
                <a:spcPts val="500"/>
              </a:spcAft>
            </a:pPr>
            <a:r>
              <a:rPr sz="950">
                <a:solidFill>
                  <a:srgbClr val="3A3A3A"/>
                </a:solidFill>
                <a:latin typeface="Calibri"/>
              </a:rPr>
              <a:t>Persists sessions + SHAP/IG 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1360" y="1150000"/>
            <a:ext cx="2621280" cy="1650000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9525">
            <a:solidFill>
              <a:srgbClr val="E3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61360" y="1150000"/>
            <a:ext cx="2621280" cy="420000"/>
          </a:xfrm>
          <a:prstGeom prst="roundRect">
            <a:avLst>
              <a:gd name="adj" fmla="val 12000"/>
            </a:avLst>
          </a:prstGeom>
          <a:solidFill>
            <a:srgbClr val="1C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② SHAP + IG 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8520" y="1615720"/>
            <a:ext cx="2346960" cy="1184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Clr>
                <a:srgbClr val="1C6E7A"/>
              </a:buClr>
              <a:buChar char="•"/>
              <a:spcAft>
                <a:spcPts val="500"/>
              </a:spcAft>
            </a:pPr>
            <a:r>
              <a:rPr sz="950">
                <a:solidFill>
                  <a:srgbClr val="3A3A3A"/>
                </a:solidFill>
                <a:latin typeface="Calibri"/>
              </a:rPr>
              <a:t>Kernel SHAP: exact Shapley, 4 coalitions</a:t>
            </a:r>
          </a:p>
          <a:p>
            <a:pPr algn="l">
              <a:buClr>
                <a:srgbClr val="1C6E7A"/>
              </a:buClr>
              <a:buChar char="•"/>
              <a:spcAft>
                <a:spcPts val="500"/>
              </a:spcAft>
            </a:pPr>
            <a:r>
              <a:rPr sz="950">
                <a:solidFill>
                  <a:srgbClr val="3A3A3A"/>
                </a:solidFill>
                <a:latin typeface="Calibri"/>
              </a:rPr>
              <a:t>Fused IG: gradients thru both models</a:t>
            </a:r>
          </a:p>
          <a:p>
            <a:pPr algn="l">
              <a:buClr>
                <a:srgbClr val="1C6E7A"/>
              </a:buClr>
              <a:buChar char="•"/>
              <a:spcAft>
                <a:spcPts val="500"/>
              </a:spcAft>
            </a:pPr>
            <a:r>
              <a:rPr sz="950">
                <a:solidFill>
                  <a:srgbClr val="3A3A3A"/>
                </a:solidFill>
                <a:latin typeface="Calibri"/>
              </a:rPr>
              <a:t>Per-channel + per-frame attribution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65520" y="1150000"/>
            <a:ext cx="2621280" cy="1650000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9525">
            <a:solidFill>
              <a:srgbClr val="E3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65520" y="1150000"/>
            <a:ext cx="2621280" cy="420000"/>
          </a:xfrm>
          <a:prstGeom prst="roundRect">
            <a:avLst>
              <a:gd name="adj" fmla="val 12000"/>
            </a:avLst>
          </a:prstGeom>
          <a:solidFill>
            <a:srgbClr val="2E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③ Faithfulness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2680" y="1615720"/>
            <a:ext cx="2346960" cy="1184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Clr>
                <a:srgbClr val="2E7D5C"/>
              </a:buClr>
              <a:buChar char="•"/>
              <a:spcAft>
                <a:spcPts val="500"/>
              </a:spcAft>
            </a:pPr>
            <a:r>
              <a:rPr sz="950">
                <a:solidFill>
                  <a:srgbClr val="3A3A3A"/>
                </a:solidFill>
                <a:latin typeface="Calibri"/>
              </a:rPr>
              <a:t>Perturbs features, re-checks prediction</a:t>
            </a:r>
          </a:p>
          <a:p>
            <a:pPr algn="l">
              <a:buClr>
                <a:srgbClr val="2E7D5C"/>
              </a:buClr>
              <a:buChar char="•"/>
              <a:spcAft>
                <a:spcPts val="500"/>
              </a:spcAft>
            </a:pPr>
            <a:r>
              <a:rPr sz="950">
                <a:solidFill>
                  <a:srgbClr val="3A3A3A"/>
                </a:solidFill>
                <a:latin typeface="Calibri"/>
              </a:rPr>
              <a:t>Completeness / efficiency axiom check</a:t>
            </a:r>
          </a:p>
          <a:p>
            <a:pPr algn="l">
              <a:buClr>
                <a:srgbClr val="2E7D5C"/>
              </a:buClr>
              <a:buChar char="•"/>
              <a:spcAft>
                <a:spcPts val="500"/>
              </a:spcAft>
            </a:pPr>
            <a:r>
              <a:rPr sz="950">
                <a:solidFill>
                  <a:srgbClr val="3A3A3A"/>
                </a:solidFill>
                <a:latin typeface="Calibri"/>
              </a:rPr>
              <a:t>Gap ≈0.06 confirmed on live sessions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82880"/>
            <a:ext cx="2621280" cy="1650000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9525">
            <a:solidFill>
              <a:srgbClr val="E3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2982880"/>
            <a:ext cx="2621280" cy="4200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④ Conflict 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48600"/>
            <a:ext cx="2346960" cy="1184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Clr>
                <a:srgbClr val="028090"/>
              </a:buClr>
              <a:buChar char="•"/>
              <a:spcAft>
                <a:spcPts val="500"/>
              </a:spcAft>
            </a:pPr>
            <a:r>
              <a:rPr sz="950">
                <a:solidFill>
                  <a:srgbClr val="3A3A3A"/>
                </a:solidFill>
                <a:latin typeface="Calibri"/>
              </a:rPr>
              <a:t>Detects physio vs video disagreement</a:t>
            </a:r>
          </a:p>
          <a:p>
            <a:pPr algn="l">
              <a:buClr>
                <a:srgbClr val="028090"/>
              </a:buClr>
              <a:buChar char="•"/>
              <a:spcAft>
                <a:spcPts val="500"/>
              </a:spcAft>
            </a:pPr>
            <a:r>
              <a:rPr sz="950">
                <a:solidFill>
                  <a:srgbClr val="3A3A3A"/>
                </a:solidFill>
                <a:latin typeface="Calibri"/>
              </a:rPr>
              <a:t>States which modality gate trusted</a:t>
            </a:r>
          </a:p>
          <a:p>
            <a:pPr algn="l">
              <a:buClr>
                <a:srgbClr val="028090"/>
              </a:buClr>
              <a:buChar char="•"/>
              <a:spcAft>
                <a:spcPts val="500"/>
              </a:spcAft>
            </a:pPr>
            <a:r>
              <a:rPr sz="950">
                <a:solidFill>
                  <a:srgbClr val="3A3A3A"/>
                </a:solidFill>
                <a:latin typeface="Calibri"/>
              </a:rPr>
              <a:t>Counterfactual: flips the 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61360" y="2982880"/>
            <a:ext cx="2621280" cy="1650000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9525">
            <a:solidFill>
              <a:srgbClr val="E3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61360" y="2982880"/>
            <a:ext cx="2621280" cy="420000"/>
          </a:xfrm>
          <a:prstGeom prst="roundRect">
            <a:avLst>
              <a:gd name="adj" fmla="val 12000"/>
            </a:avLst>
          </a:prstGeom>
          <a:solidFill>
            <a:srgbClr val="1C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⑤ RAG Chatbot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8520" y="3448600"/>
            <a:ext cx="2346960" cy="1184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Clr>
                <a:srgbClr val="1C6E7A"/>
              </a:buClr>
              <a:buChar char="•"/>
              <a:spcAft>
                <a:spcPts val="500"/>
              </a:spcAft>
            </a:pPr>
            <a:r>
              <a:rPr sz="950">
                <a:solidFill>
                  <a:srgbClr val="3A3A3A"/>
                </a:solidFill>
                <a:latin typeface="Calibri"/>
              </a:rPr>
              <a:t>Gemini → Groq → DeepSeek chain</a:t>
            </a:r>
          </a:p>
          <a:p>
            <a:pPr algn="l">
              <a:buClr>
                <a:srgbClr val="1C6E7A"/>
              </a:buClr>
              <a:buChar char="•"/>
              <a:spcAft>
                <a:spcPts val="500"/>
              </a:spcAft>
            </a:pPr>
            <a:r>
              <a:rPr sz="950">
                <a:solidFill>
                  <a:srgbClr val="3A3A3A"/>
                </a:solidFill>
                <a:latin typeface="Calibri"/>
              </a:rPr>
              <a:t>Grounded in ingested research PDFs</a:t>
            </a:r>
          </a:p>
          <a:p>
            <a:pPr algn="l">
              <a:buClr>
                <a:srgbClr val="1C6E7A"/>
              </a:buClr>
              <a:buChar char="•"/>
              <a:spcAft>
                <a:spcPts val="500"/>
              </a:spcAft>
            </a:pPr>
            <a:r>
              <a:rPr sz="950">
                <a:solidFill>
                  <a:srgbClr val="3A3A3A"/>
                </a:solidFill>
                <a:latin typeface="Calibri"/>
              </a:rPr>
              <a:t>Faithfulness-gated, auto-retry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5520" y="2982880"/>
            <a:ext cx="2621280" cy="1650000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9525">
            <a:solidFill>
              <a:srgbClr val="E3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65520" y="2982880"/>
            <a:ext cx="2621280" cy="420000"/>
          </a:xfrm>
          <a:prstGeom prst="roundRect">
            <a:avLst>
              <a:gd name="adj" fmla="val 12000"/>
            </a:avLst>
          </a:prstGeom>
          <a:solidFill>
            <a:srgbClr val="2E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⑥ React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2680" y="3448600"/>
            <a:ext cx="2346960" cy="1184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Clr>
                <a:srgbClr val="2E7D5C"/>
              </a:buClr>
              <a:buChar char="•"/>
              <a:spcAft>
                <a:spcPts val="500"/>
              </a:spcAft>
            </a:pPr>
            <a:r>
              <a:rPr sz="950">
                <a:solidFill>
                  <a:srgbClr val="3A3A3A"/>
                </a:solidFill>
                <a:latin typeface="Calibri"/>
              </a:rPr>
              <a:t>Emotion trend + SHAP/IG charts</a:t>
            </a:r>
          </a:p>
          <a:p>
            <a:pPr algn="l">
              <a:buClr>
                <a:srgbClr val="2E7D5C"/>
              </a:buClr>
              <a:buChar char="•"/>
              <a:spcAft>
                <a:spcPts val="500"/>
              </a:spcAft>
            </a:pPr>
            <a:r>
              <a:rPr sz="950">
                <a:solidFill>
                  <a:srgbClr val="3A3A3A"/>
                </a:solidFill>
                <a:latin typeface="Calibri"/>
              </a:rPr>
              <a:t>Conflict panel + session history</a:t>
            </a:r>
          </a:p>
          <a:p>
            <a:pPr algn="l">
              <a:buClr>
                <a:srgbClr val="2E7D5C"/>
              </a:buClr>
              <a:buChar char="•"/>
              <a:spcAft>
                <a:spcPts val="500"/>
              </a:spcAft>
            </a:pPr>
            <a:r>
              <a:rPr sz="950">
                <a:solidFill>
                  <a:srgbClr val="3A3A3A"/>
                </a:solidFill>
                <a:latin typeface="Calibri"/>
              </a:rPr>
              <a:t>One live view, end-to-end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A"/>
          </a:solidFill>
          <a:ln w="12700">
            <a:solidFill>
              <a:srgbClr val="F2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 — Live Web 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Adshaya Balarajah — 214024V</a:t>
            </a:r>
            <a:endParaRPr lang="en-US" sz="1100" dirty="0"/>
          </a:p>
        </p:txBody>
      </p:sp>
      <p:pic>
        <p:nvPicPr>
          <p:cNvPr id="6" name="Picture 5" descr="m3_shot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0000"/>
            <a:ext cx="2697480" cy="13623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2932363"/>
            <a:ext cx="26974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</a:rPr>
              <a:t>SHAP + confidence analytics</a:t>
            </a:r>
          </a:p>
        </p:txBody>
      </p:sp>
      <p:pic>
        <p:nvPicPr>
          <p:cNvPr id="8" name="Picture 7" descr="m3_shot_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500000"/>
            <a:ext cx="2697480" cy="13623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54680" y="2932363"/>
            <a:ext cx="26974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</a:rPr>
              <a:t>Fused Integrated Gradients</a:t>
            </a:r>
          </a:p>
        </p:txBody>
      </p:sp>
      <p:pic>
        <p:nvPicPr>
          <p:cNvPr id="10" name="Picture 9" descr="m3_shot_confli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500000"/>
            <a:ext cx="2697480" cy="13623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2932363"/>
            <a:ext cx="26974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</a:rPr>
              <a:t>LLM-verified conflict resolution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2363"/>
            <a:ext cx="8229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555555"/>
                </a:solidFill>
              </a:rPr>
              <a:t>Every screen above is a real, live prediction — no synthetic demo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A"/>
          </a:solidFill>
          <a:ln w="12700">
            <a:solidFill>
              <a:srgbClr val="F2F8F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Flow — End-to-End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6459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inputs data via the web UI → both models run → fusion → final prediction + explanation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841949"/>
          </a:xfrm>
          <a:prstGeom prst="roundRect">
            <a:avLst>
              <a:gd name="adj" fmla="val 761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8912" y="1124712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124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15568" y="10607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via Web UI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15568" y="1353312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07008" y="14081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 Video file upload (.mp4)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70832" y="1353312"/>
            <a:ext cx="4315968" cy="438912"/>
          </a:xfrm>
          <a:prstGeom prst="roundRect">
            <a:avLst>
              <a:gd name="adj" fmla="val 16667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62272" y="1408176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EEG + GSR data selection (DEAP subject · trial · window)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84832" y="1860453"/>
            <a:ext cx="54863" cy="206089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rot="10800000">
            <a:off x="1993392" y="1949778"/>
            <a:ext cx="237744" cy="164592"/>
          </a:xfrm>
          <a:prstGeom prst="triangl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55664" y="1847788"/>
            <a:ext cx="54863" cy="218753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rot="10800000">
            <a:off x="6364224" y="1949778"/>
            <a:ext cx="237744" cy="164592"/>
          </a:xfrm>
          <a:prstGeom prst="triangl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114370"/>
            <a:ext cx="3822192" cy="1005840"/>
          </a:xfrm>
          <a:prstGeom prst="roundRect">
            <a:avLst>
              <a:gd name="adj" fmla="val 64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8912" y="2242386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8912" y="224238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78992" y="216923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EEG + GSR Model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78992" y="2443554"/>
            <a:ext cx="29443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BiCrossModal Attention (BDCA)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EEGEncoder + GSREncoder → 5-class softmax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emotion · confidence · class_probabilities · signal_quality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0" y="2114370"/>
            <a:ext cx="3734972" cy="1005840"/>
          </a:xfrm>
          <a:prstGeom prst="roundRect">
            <a:avLst>
              <a:gd name="adj" fmla="val 6400"/>
            </a:avLst>
          </a:prstGeom>
          <a:solidFill>
            <a:srgbClr val="1C6E7A"/>
          </a:solidFill>
          <a:ln w="12700">
            <a:solidFill>
              <a:srgbClr val="1C6E7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193792" y="2242386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93792" y="224238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833872" y="216923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— Video Model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33872" y="2443554"/>
            <a:ext cx="2880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+ BiLSTM (16 frames)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Full-frame resize → ImageNet normalise → 5-class softmax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emotion · confidence · class_probabilities · video_quality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528456" y="3119504"/>
            <a:ext cx="64009" cy="583814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 rot="5400000">
            <a:off x="2104528" y="3591475"/>
            <a:ext cx="237744" cy="164592"/>
          </a:xfrm>
          <a:prstGeom prst="triangl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80508" y="3062352"/>
            <a:ext cx="45719" cy="640966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 rot="16200000">
            <a:off x="6124370" y="3586732"/>
            <a:ext cx="237744" cy="164592"/>
          </a:xfrm>
          <a:prstGeom prst="triangl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322576" y="3265808"/>
            <a:ext cx="3840480" cy="871852"/>
          </a:xfrm>
          <a:prstGeom prst="roundRect">
            <a:avLst>
              <a:gd name="adj" fmla="val 7273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487168" y="3375536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494202" y="33755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108960" y="33206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Fusion Layer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077309" y="3509533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(entropy-based) × quality penalty α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L1-normalised weights → weighted sum of both P vectors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 if one modality is poor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574176" y="3648454"/>
            <a:ext cx="566928" cy="54864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Shape 36"/>
          <p:cNvSpPr/>
          <p:nvPr/>
        </p:nvSpPr>
        <p:spPr>
          <a:xfrm rot="10800000">
            <a:off x="4194281" y="4168602"/>
            <a:ext cx="146304" cy="182880"/>
          </a:xfrm>
          <a:prstGeom prst="triangl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578608" y="4376105"/>
            <a:ext cx="3785616" cy="785683"/>
          </a:xfrm>
          <a:prstGeom prst="roundRect">
            <a:avLst>
              <a:gd name="adj" fmla="val 727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2743200" y="448126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743200" y="4485833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364992" y="4430969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 + Explanation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349518" y="459486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emotion · confidence score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SHAP values per modality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· LLM chatbot explanation</a:t>
            </a:r>
            <a:endParaRPr lang="en-US" sz="950" dirty="0"/>
          </a:p>
        </p:txBody>
      </p:sp>
      <p:sp>
        <p:nvSpPr>
          <p:cNvPr id="45" name="Shape 35">
            <a:extLst>
              <a:ext uri="{FF2B5EF4-FFF2-40B4-BE49-F238E27FC236}">
                <a16:creationId xmlns:a16="http://schemas.microsoft.com/office/drawing/2014/main" id="{A9791036-DED1-1CAE-39C2-EE6237F6DC8A}"/>
              </a:ext>
            </a:extLst>
          </p:cNvPr>
          <p:cNvSpPr/>
          <p:nvPr/>
        </p:nvSpPr>
        <p:spPr>
          <a:xfrm>
            <a:off x="6313580" y="3648454"/>
            <a:ext cx="566928" cy="54864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A"/>
          </a:solidFill>
          <a:ln w="12700">
            <a:solidFill>
              <a:srgbClr val="F2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Summary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4630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 — Physiological (EEG+GSR)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84048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14447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14447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3840480" cy="365760"/>
          </a:xfrm>
          <a:prstGeom prst="roundRect">
            <a:avLst>
              <a:gd name="adj" fmla="val 20000"/>
            </a:avLst>
          </a:prstGeom>
          <a:solidFill>
            <a:srgbClr val="DFF2EC"/>
          </a:solidFill>
          <a:ln w="12700">
            <a:solidFill>
              <a:srgbClr val="DFF2EC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8562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77440" y="18562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0.4171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8562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~42%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94560"/>
            <a:ext cx="3840480" cy="365760"/>
          </a:xfrm>
          <a:prstGeom prst="roundRect">
            <a:avLst>
              <a:gd name="adj" fmla="val 20000"/>
            </a:avLst>
          </a:prstGeom>
          <a:solidFill>
            <a:srgbClr val="DFF2EC"/>
          </a:solidFill>
          <a:ln w="12700">
            <a:solidFill>
              <a:srgbClr val="DFF2EC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2677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(32 folds)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7440" y="22677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0.1791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2677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3840480" cy="365760"/>
          </a:xfrm>
          <a:prstGeom prst="roundRect">
            <a:avLst>
              <a:gd name="adj" fmla="val 20000"/>
            </a:avLst>
          </a:prstGeom>
          <a:solidFill>
            <a:srgbClr val="DFF2EC"/>
          </a:solidFill>
          <a:ln w="12700">
            <a:solidFill>
              <a:srgbClr val="DFF2EC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26791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Soup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77440" y="26791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0.1791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2679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3840480" cy="365760"/>
          </a:xfrm>
          <a:prstGeom prst="roundRect">
            <a:avLst>
              <a:gd name="adj" fmla="val 20000"/>
            </a:avLst>
          </a:prstGeom>
          <a:solidFill>
            <a:srgbClr val="E0EEF2"/>
          </a:solidFill>
          <a:ln w="12700">
            <a:solidFill>
              <a:srgbClr val="E0EEF2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30906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baseline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77440" y="30906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30906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16.48%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429000"/>
            <a:ext cx="38404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35021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baseline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77440" y="35021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0.1171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35021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24.13%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91440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1005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 — Video + Fusion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1371600"/>
            <a:ext cx="3931920" cy="347472"/>
          </a:xfrm>
          <a:prstGeom prst="roundRect">
            <a:avLst>
              <a:gd name="adj" fmla="val 21053"/>
            </a:avLst>
          </a:prstGeom>
          <a:solidFill>
            <a:srgbClr val="1C6E7A"/>
          </a:solidFill>
          <a:ln w="12700">
            <a:solidFill>
              <a:srgbClr val="1C6E7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1435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589520" y="14356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1755648"/>
            <a:ext cx="39319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46320" y="18196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GroupKFold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89520" y="18196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0.6615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2139696"/>
            <a:ext cx="3931920" cy="347472"/>
          </a:xfrm>
          <a:prstGeom prst="roundRect">
            <a:avLst>
              <a:gd name="adj" fmla="val 21053"/>
            </a:avLst>
          </a:prstGeom>
          <a:solidFill>
            <a:srgbClr val="E0EEF2"/>
          </a:solidFill>
          <a:ln w="12700">
            <a:solidFill>
              <a:srgbClr val="E0EEF2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46320" y="22037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Video-only inference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589520" y="22037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0.66+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2743200"/>
            <a:ext cx="4114800" cy="2278966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00600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Study (Planned)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828032" y="3200400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010912" y="31638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C1: Physio only (M1)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28032" y="3502152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10912" y="34655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C2: Video only (M2)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28032" y="3803904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010912" y="3767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C3: Equal weights fusion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28032" y="4105656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010912" y="4069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C4: Confidence-weighted (no quality)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28032" y="4407408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010912" y="4370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C5: Full method (confidence + quality)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28032" y="4709160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010912" y="4672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C6–C8: Robustness — poor/missing modality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85800" y="960120"/>
            <a:ext cx="8138160" cy="822960"/>
          </a:xfrm>
          <a:prstGeom prst="roundRect">
            <a:avLst>
              <a:gd name="adj" fmla="val 8889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051560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0149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1024128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M1: BiCrossModal Attention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1280160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F1 0.1791 · Random Split F1 0.4171 · Model Soup from 32 folds · Outperforms SVM/RF baselines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920240"/>
            <a:ext cx="8138160" cy="822960"/>
          </a:xfrm>
          <a:prstGeom prst="roundRect">
            <a:avLst>
              <a:gd name="adj" fmla="val 8889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2011680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19751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8760" y="1984248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M2: Video + Gated Fusion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2240280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ResNet50+BiLSTM · CREMA-D+RAVDESS · Macro-F1 0.6615 · Graceful degradation for missing modalities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2880360"/>
            <a:ext cx="8138160" cy="822960"/>
          </a:xfrm>
          <a:prstGeom prst="roundRect">
            <a:avLst>
              <a:gd name="adj" fmla="val 8889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" y="2971800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29352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2944368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M3: SHAP + Web App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3200400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SHAP · FastAPI 9 endpoints · React dashboard · LLM chatbot · /predict/synthetic endpoint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840480"/>
            <a:ext cx="8138160" cy="822960"/>
          </a:xfrm>
          <a:prstGeom prst="roundRect">
            <a:avLst>
              <a:gd name="adj" fmla="val 8889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" y="3931920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3895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3904488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08760" y="4160520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M1→M2→M3 interface contracts locked · Confidence-gated fusion with quality penalty · End-to-end demo ready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0" y="-1371600"/>
            <a:ext cx="5486400" cy="5486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371600" y="2286000"/>
            <a:ext cx="4114800" cy="41148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338328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3474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Suhira Balarajan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37490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214206G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395020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(EEG+GSR)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0" y="338328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66160" y="3474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Vanaiyan Kirupagaran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66160" y="37490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214215H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66160" y="395020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+ Fusion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338328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3474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Adshaya Balarajah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37490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214024V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395020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+ Web App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Moratuwa · Faculty of Information Technology · Level 4 FYP 2026 · Supervisor: Dr. Firdhous M.F.M.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1391</Words>
  <Application>Microsoft Office PowerPoint</Application>
  <PresentationFormat>On-screen Show (16:9)</PresentationFormat>
  <Paragraphs>282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</vt:lpstr>
      <vt:lpstr>Inter</vt:lpstr>
      <vt:lpstr>Outfit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Suhira Balarajan</cp:lastModifiedBy>
  <cp:revision>3</cp:revision>
  <dcterms:created xsi:type="dcterms:W3CDTF">2026-07-27T16:27:11Z</dcterms:created>
  <dcterms:modified xsi:type="dcterms:W3CDTF">2026-07-27T17:23:13Z</dcterms:modified>
</cp:coreProperties>
</file>