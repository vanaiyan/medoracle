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85"/>
    <p:restoredTop sz="90467"/>
  </p:normalViewPr>
  <p:slideViewPr>
    <p:cSldViewPr snapToGrid="0" snapToObjects="1">
      <p:cViewPr varScale="1">
        <p:scale>
          <a:sx n="121" d="100"/>
          <a:sy n="121" d="100"/>
        </p:scale>
        <p:origin x="32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5831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Welcome. We are team </a:t>
            </a:r>
            <a:r>
              <a:rPr dirty="0" err="1"/>
              <a:t>MedOracle</a:t>
            </a:r>
            <a:r>
              <a:rPr dirty="0"/>
              <a:t>. Our project is a multimodal emotion recognition system that fuses physiological signals and facial video, and crucially explains its predictions. I'm [name], with me are [names]. Over the next 15 minutes we'll cover the problem, our architecture, the datasets, then each of us presents our module's progress, and finish with results and remaining work.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Single-modality emotion recognition is brittle. Cameras fail in bad lighting; EEG/GSR sensors pick up noise. Real deployments face degraded signals. And in healthcare a black-box answer isn't enough — you need explainability. </a:t>
            </a:r>
            <a:r>
              <a:rPr dirty="0" err="1"/>
              <a:t>MedOracle</a:t>
            </a:r>
            <a:r>
              <a:rPr dirty="0"/>
              <a:t> tackles all three: multimodal fusion, quality-aware weighting, and SHAP-based explanations. ~1 min.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aim: classify five emotions — stress, calm, happy, sad, angry — by fusing three signal types. Five objectives, one per major component: the physiological model, the video model, the quality-aware fusion, the explainability + web app, and a rigorous evaluation plan. Note we locked to exactly 5 classes so all modules speak the same language. ~1 min.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modules in a pipeline. Member 1 turns EEG and GSR into a physiological prediction. Member 2 turns facial video into a video prediction and then fuses both. Member 3 explains the result and serves it through a web app. A key design point: we use LATE fusion because our two datasets have no overlapping subjects — joint training is impossible, so fusing at the decision level is architecturally forced, not a weakness. The modules talk through strict contracts, which let us build in parallel. ~1.5 min.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very different datasets. DEAP gives physiological signals labelled on continuous valence-arousal-dominance scales; we threshold those into our 5 classes using established affective-computing theory. The video side uses CREMA-D plus RAVDESS; we map their categorical labels, mapping fear to stress and neutral to calm, and dropping disgust which has no clean match. A shared harmonisation module — with 59 unit tests — guarantees all three modules use exactly the same 5 classes. ~1.5 min.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[Member 1 presents] I own the physiological module. First I verified the DEAP dataset matched the official Queen Mary spec — channels, sampling rate, label ranges — with automated checks. Then I built the EEG and GSR preprocessing: loading per subject, cutting signals into 4-second epochs, and extracting features — Differential Entropy across the five EEG frequency bands, and statistical features for GSR. I also designed the signal-quality grading that Member 2's fusion uses. ~2 min total for my part.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[Member 1] My model is a bidirectional cross-modal attention network: EEG attends to GSR and vice-versa, so the model learns how the two signals interact, before a joint head outputs the 5 classes. For evaluation I use Leave-One-Subject-Out across all 32 subjects — the strictest test of generalising to unseen people — reporting mean macro-F1. Preprocessing is validated; training and LOSO evaluation are underway. Handing over to Member 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[Member 2 — Vanaiyan presents] I own the video and fusion module. The preprocessing detects the face with YOLOv8, samples 16 frames evenly across the clip, crops to 224×224, and grades video quality using image sharpness and face size. The model is a ResNet50 that turns each frame into a feature vector, fed into a bidirectional LSTM that models how the expression evolves over time. Critically, my 5-fold split is actor-independent — no actor appears in both train and test — so the model can't cheat by memorising faces. ~2 min for my part.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[Member 2] This is the heart of robustness. Each modality gets a confidence from how peaked its probability distribution is. We multiply that by a quality penalty — a clean signal keeps full weight, a poor one is cut to 10%. Those gate scores become weights via L1 normalisation, which preserves big confidence gaps better than softmax. We take the weighted average of the two predictions. And if a modality drops out entirely, the system gracefully falls back to the other one rather than failing. I designed this fusion algorithm and the quality thresholds for the whole team.</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[Member 2] Honest preliminary results. My first baseline hit 0.64 macro-F1 but was over-fitting — the train score was far above validation, meaning it was memorising specific actors' faces rather than emotions. I diagnosed that and applied targeted fixes: freezing BatchNorm, training the backbone with a much lower learning rate than the head, cutout augmentation, and stratified actor-independent folds. The current v3.1 run shows Fold 1 at 0.605 and Fold 2 at 0.663, with a small healthy train/val gap. Happy and angry are already strong; sad and stress are the weak spots — exactly where fusion with the physiological signal should help. Over to Member 3.</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[Member 3 — Adshaya presents] My job is to make the system explainable and put it on the web. I use Kernel SHAP, treating each modality as a feature, to compute how much EEG, GSR, and video each contributed to the predicted emotion. A real challenge: our fusion uses discrete quality grades, which makes it non-differentiable and made SHAP values unstable — I fixed that by holding quality grades constant during each SHAP pass. I also built a faithfulness metric that checks the explanation actually matches the model's behaviour. To develop independently of the other modules, I built a Pydantic contract and a synthetic data generator. ~2 min for my part.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[Member 3] On the backend, the FastAPI authentication is complete — registration, login, JWT, and a four-table database — and the main /predict endpoint works. The remaining endpoints are in progress. The React dashboard will visualise emotion trends and SHAP attributions, and an LLM chatbot using the Claude API will turn the SHAP numbers into plain-English explanations a clinician can read. The frontend and chatbot are my main deliverables for the final stage. Handing back for the wrap-up.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[Wrap-up] Where we stand: the architecture, contracts, and label harmonisation are done. Each module's core is built — physiological preprocessing, the full video pipeline with training underway, and the SHAP layer plus backend auth. Remaining: finish training and evaluation for both models, build the fusion and integration code, and complete the web app. Evaluation runs in three phases — each module on its own, then the full pipeline under our 5-condition ablation plus robustness tests, with Wilcoxon significance testing. ~1 min.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three things set MedOracle apart: we tackle cross-dataset fusion honestly, our fusion is quality-aware and degrades gracefully, and explainability is a first-class feature, not an afterthought. We're on track — the architecture is done, all three modules are implemented and validated, and early video results are promising. Remaining work is finishing training, the fusion code, and the web app. Thank you — we're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160520"/>
            <a:ext cx="12191695" cy="8229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4242816"/>
            <a:ext cx="12191695" cy="45720"/>
          </a:xfrm>
          <a:prstGeom prst="rect">
            <a:avLst/>
          </a:prstGeom>
          <a:solidFill>
            <a:srgbClr val="E9A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371600"/>
            <a:ext cx="10515600" cy="1097280"/>
          </a:xfrm>
          <a:prstGeom prst="rect">
            <a:avLst/>
          </a:prstGeom>
          <a:noFill/>
        </p:spPr>
        <p:txBody>
          <a:bodyPr wrap="square" anchor="t">
            <a:spAutoFit/>
          </a:bodyPr>
          <a:lstStyle/>
          <a:p>
            <a:r>
              <a:rPr sz="6000" b="1" i="0" dirty="0" err="1">
                <a:solidFill>
                  <a:srgbClr val="FFFFFF"/>
                </a:solidFill>
                <a:latin typeface="Calibri"/>
              </a:rPr>
              <a:t>MedOracle</a:t>
            </a:r>
            <a:endParaRPr sz="6000" b="1" i="0" dirty="0">
              <a:solidFill>
                <a:srgbClr val="FFFFFF"/>
              </a:solidFill>
              <a:latin typeface="Calibri"/>
            </a:endParaRPr>
          </a:p>
        </p:txBody>
      </p:sp>
      <p:sp>
        <p:nvSpPr>
          <p:cNvPr id="6" name="TextBox 5"/>
          <p:cNvSpPr txBox="1"/>
          <p:nvPr/>
        </p:nvSpPr>
        <p:spPr>
          <a:xfrm>
            <a:off x="822960" y="2468880"/>
            <a:ext cx="10515600" cy="1463040"/>
          </a:xfrm>
          <a:prstGeom prst="rect">
            <a:avLst/>
          </a:prstGeom>
          <a:noFill/>
        </p:spPr>
        <p:txBody>
          <a:bodyPr wrap="square" anchor="t">
            <a:spAutoFit/>
          </a:bodyPr>
          <a:lstStyle/>
          <a:p>
            <a:r>
              <a:rPr sz="2600" b="1" i="0" dirty="0">
                <a:solidFill>
                  <a:srgbClr val="2A9D8F"/>
                </a:solidFill>
                <a:latin typeface="Calibri"/>
              </a:rPr>
              <a:t>A Multimodal Emotion Recognition System with Explainability</a:t>
            </a:r>
          </a:p>
          <a:p>
            <a:pPr>
              <a:spcBef>
                <a:spcPts val="800"/>
              </a:spcBef>
            </a:pPr>
            <a:r>
              <a:rPr sz="1600" b="0" i="1" dirty="0">
                <a:solidFill>
                  <a:srgbClr val="C9D3DE"/>
                </a:solidFill>
                <a:latin typeface="Calibri"/>
              </a:rPr>
              <a:t>Fusing EEG · GSR · Facial Video → 5 emotions, with SHAP explanations</a:t>
            </a:r>
          </a:p>
        </p:txBody>
      </p:sp>
      <p:sp>
        <p:nvSpPr>
          <p:cNvPr id="7" name="TextBox 6"/>
          <p:cNvSpPr txBox="1"/>
          <p:nvPr/>
        </p:nvSpPr>
        <p:spPr>
          <a:xfrm>
            <a:off x="822960" y="4526280"/>
            <a:ext cx="10515600" cy="1828800"/>
          </a:xfrm>
          <a:prstGeom prst="rect">
            <a:avLst/>
          </a:prstGeom>
          <a:noFill/>
        </p:spPr>
        <p:txBody>
          <a:bodyPr wrap="square" anchor="t">
            <a:spAutoFit/>
          </a:bodyPr>
          <a:lstStyle/>
          <a:p>
            <a:pPr>
              <a:spcAft>
                <a:spcPts val="400"/>
              </a:spcAft>
            </a:pPr>
            <a:r>
              <a:rPr sz="1500" b="1" i="0">
                <a:solidFill>
                  <a:srgbClr val="FFFFFF"/>
                </a:solidFill>
                <a:latin typeface="Calibri"/>
              </a:rPr>
              <a:t>Suhira Balarajan  </a:t>
            </a:r>
            <a:r>
              <a:rPr sz="1400" b="1" i="0">
                <a:solidFill>
                  <a:srgbClr val="E9A84A"/>
                </a:solidFill>
                <a:latin typeface="Calibri"/>
              </a:rPr>
              <a:t>(214206G)   </a:t>
            </a:r>
            <a:r>
              <a:rPr sz="1400" b="0" i="0">
                <a:solidFill>
                  <a:srgbClr val="C9D3DE"/>
                </a:solidFill>
                <a:latin typeface="Calibri"/>
              </a:rPr>
              <a:t>Member 1 — Physiological (EEG + GSR)</a:t>
            </a:r>
          </a:p>
          <a:p>
            <a:pPr>
              <a:spcAft>
                <a:spcPts val="400"/>
              </a:spcAft>
            </a:pPr>
            <a:r>
              <a:rPr sz="1500" b="1" i="0">
                <a:solidFill>
                  <a:srgbClr val="FFFFFF"/>
                </a:solidFill>
                <a:latin typeface="Calibri"/>
              </a:rPr>
              <a:t>Vanaiyan Kirupagaran  </a:t>
            </a:r>
            <a:r>
              <a:rPr sz="1400" b="1" i="0">
                <a:solidFill>
                  <a:srgbClr val="E9A84A"/>
                </a:solidFill>
                <a:latin typeface="Calibri"/>
              </a:rPr>
              <a:t>(214215H)   </a:t>
            </a:r>
            <a:r>
              <a:rPr sz="1400" b="0" i="0">
                <a:solidFill>
                  <a:srgbClr val="C9D3DE"/>
                </a:solidFill>
                <a:latin typeface="Calibri"/>
              </a:rPr>
              <a:t>Member 2 — Video + Fusion</a:t>
            </a:r>
          </a:p>
          <a:p>
            <a:pPr>
              <a:spcAft>
                <a:spcPts val="400"/>
              </a:spcAft>
            </a:pPr>
            <a:r>
              <a:rPr sz="1500" b="1" i="0">
                <a:solidFill>
                  <a:srgbClr val="FFFFFF"/>
                </a:solidFill>
                <a:latin typeface="Calibri"/>
              </a:rPr>
              <a:t>Adshaya Balarajah  </a:t>
            </a:r>
            <a:r>
              <a:rPr sz="1400" b="1" i="0">
                <a:solidFill>
                  <a:srgbClr val="E9A84A"/>
                </a:solidFill>
                <a:latin typeface="Calibri"/>
              </a:rPr>
              <a:t>(214024V)   </a:t>
            </a:r>
            <a:r>
              <a:rPr sz="1400" b="0" i="0">
                <a:solidFill>
                  <a:srgbClr val="C9D3DE"/>
                </a:solidFill>
                <a:latin typeface="Calibri"/>
              </a:rPr>
              <a:t>Member 3 — Explainability + Web App</a:t>
            </a:r>
          </a:p>
          <a:p>
            <a:pPr>
              <a:spcBef>
                <a:spcPts val="1200"/>
              </a:spcBef>
            </a:pPr>
            <a:r>
              <a:rPr sz="1200" b="0" i="1">
                <a:solidFill>
                  <a:srgbClr val="9FAEC0"/>
                </a:solidFill>
                <a:latin typeface="Calibri"/>
              </a:rPr>
              <a:t>Supervisor: Dr. Firdhous M.F.M.   ·   Faculty of Information Technology, University of Moratuwa   ·   Level 4 FYP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961120" cy="777240"/>
          </a:xfrm>
          <a:prstGeom prst="rect">
            <a:avLst/>
          </a:prstGeom>
          <a:noFill/>
        </p:spPr>
        <p:txBody>
          <a:bodyPr wrap="square" anchor="ctr">
            <a:spAutoFit/>
          </a:bodyPr>
          <a:lstStyle/>
          <a:p>
            <a:r>
              <a:rPr sz="2800" b="1" i="0">
                <a:solidFill>
                  <a:srgbClr val="FFFFFF"/>
                </a:solidFill>
                <a:latin typeface="Calibri"/>
              </a:rPr>
              <a:t>The Problem &amp; Motivation</a:t>
            </a:r>
          </a:p>
        </p:txBody>
      </p:sp>
      <p:sp>
        <p:nvSpPr>
          <p:cNvPr id="5" name="TextBox 4"/>
          <p:cNvSpPr txBox="1"/>
          <p:nvPr/>
        </p:nvSpPr>
        <p:spPr>
          <a:xfrm>
            <a:off x="548640" y="1371600"/>
            <a:ext cx="11064240" cy="5029200"/>
          </a:xfrm>
          <a:prstGeom prst="rect">
            <a:avLst/>
          </a:prstGeom>
          <a:noFill/>
        </p:spPr>
        <p:txBody>
          <a:bodyPr wrap="square" anchor="t">
            <a:spAutoFit/>
          </a:bodyPr>
          <a:lstStyle/>
          <a:p>
            <a:pPr>
              <a:spcBef>
                <a:spcPts val="0"/>
              </a:spcBef>
              <a:spcAft>
                <a:spcPts val="1000"/>
              </a:spcAft>
            </a:pPr>
            <a:r>
              <a:rPr sz="1800" b="1" i="0">
                <a:solidFill>
                  <a:srgbClr val="2A9D8F"/>
                </a:solidFill>
                <a:latin typeface="Calibri"/>
              </a:rPr>
              <a:t>▸ </a:t>
            </a:r>
            <a:r>
              <a:rPr sz="1800" b="0" i="0">
                <a:solidFill>
                  <a:srgbClr val="222A33"/>
                </a:solidFill>
                <a:latin typeface="Calibri"/>
              </a:rPr>
              <a:t>Emotion recognition matters for mental-health monitoring, human–computer interaction, and personalised healthcare.</a:t>
            </a:r>
          </a:p>
          <a:p>
            <a:pPr>
              <a:spcBef>
                <a:spcPts val="0"/>
              </a:spcBef>
              <a:spcAft>
                <a:spcPts val="1000"/>
              </a:spcAft>
            </a:pPr>
            <a:r>
              <a:rPr sz="1800" b="1" i="0">
                <a:solidFill>
                  <a:srgbClr val="2A9D8F"/>
                </a:solidFill>
                <a:latin typeface="Calibri"/>
              </a:rPr>
              <a:t>▸ </a:t>
            </a:r>
            <a:r>
              <a:rPr sz="1800" b="0" i="0">
                <a:solidFill>
                  <a:srgbClr val="222A33"/>
                </a:solidFill>
                <a:latin typeface="Calibri"/>
              </a:rPr>
              <a:t>Most existing systems rely on a SINGLE modality — either facial expression OR physiological signals.</a:t>
            </a:r>
          </a:p>
          <a:p>
            <a:pPr lvl="1">
              <a:spcBef>
                <a:spcPts val="0"/>
              </a:spcBef>
              <a:spcAft>
                <a:spcPts val="1000"/>
              </a:spcAft>
            </a:pPr>
            <a:r>
              <a:rPr sz="1600" b="1" i="0">
                <a:solidFill>
                  <a:srgbClr val="E9A84A"/>
                </a:solidFill>
                <a:latin typeface="Calibri"/>
              </a:rPr>
              <a:t>     – </a:t>
            </a:r>
            <a:r>
              <a:rPr sz="1600" b="0" i="0">
                <a:solidFill>
                  <a:srgbClr val="5A636E"/>
                </a:solidFill>
                <a:latin typeface="Calibri"/>
              </a:rPr>
              <a:t>Facial-only systems break under poor lighting, occlusion, and head pose.</a:t>
            </a:r>
          </a:p>
          <a:p>
            <a:pPr lvl="1">
              <a:spcBef>
                <a:spcPts val="0"/>
              </a:spcBef>
              <a:spcAft>
                <a:spcPts val="1000"/>
              </a:spcAft>
            </a:pPr>
            <a:r>
              <a:rPr sz="1600" b="1" i="0">
                <a:solidFill>
                  <a:srgbClr val="E9A84A"/>
                </a:solidFill>
                <a:latin typeface="Calibri"/>
              </a:rPr>
              <a:t>     – </a:t>
            </a:r>
            <a:r>
              <a:rPr sz="1600" b="0" i="0">
                <a:solidFill>
                  <a:srgbClr val="5A636E"/>
                </a:solidFill>
                <a:latin typeface="Calibri"/>
              </a:rPr>
              <a:t>Physiological-only systems are sensitive to sensor noise and motion artefacts.</a:t>
            </a:r>
          </a:p>
          <a:p>
            <a:pPr>
              <a:spcBef>
                <a:spcPts val="0"/>
              </a:spcBef>
              <a:spcAft>
                <a:spcPts val="1000"/>
              </a:spcAft>
            </a:pPr>
            <a:r>
              <a:rPr sz="1800" b="1" i="0">
                <a:solidFill>
                  <a:srgbClr val="2A9D8F"/>
                </a:solidFill>
                <a:latin typeface="Calibri"/>
              </a:rPr>
              <a:t>▸ </a:t>
            </a:r>
            <a:r>
              <a:rPr sz="1800" b="0" i="0">
                <a:solidFill>
                  <a:srgbClr val="222A33"/>
                </a:solidFill>
                <a:latin typeface="Calibri"/>
              </a:rPr>
              <a:t>In the real world, signal quality degrades — a robust system must handle this gracefully.</a:t>
            </a:r>
          </a:p>
          <a:p>
            <a:pPr>
              <a:spcBef>
                <a:spcPts val="0"/>
              </a:spcBef>
              <a:spcAft>
                <a:spcPts val="1000"/>
              </a:spcAft>
            </a:pPr>
            <a:r>
              <a:rPr sz="1800" b="1" i="0">
                <a:solidFill>
                  <a:srgbClr val="2A9D8F"/>
                </a:solidFill>
                <a:latin typeface="Calibri"/>
              </a:rPr>
              <a:t>▸ </a:t>
            </a:r>
            <a:r>
              <a:rPr sz="1800" b="0" i="0">
                <a:solidFill>
                  <a:srgbClr val="222A33"/>
                </a:solidFill>
                <a:latin typeface="Calibri"/>
              </a:rPr>
              <a:t>Black-box predictions are unacceptable in healthcare — clinicians need to know WHY.</a:t>
            </a:r>
          </a:p>
          <a:p>
            <a:pPr>
              <a:spcBef>
                <a:spcPts val="0"/>
              </a:spcBef>
              <a:spcAft>
                <a:spcPts val="1000"/>
              </a:spcAft>
            </a:pPr>
            <a:r>
              <a:rPr sz="1800" b="1" i="0">
                <a:solidFill>
                  <a:srgbClr val="2A9D8F"/>
                </a:solidFill>
                <a:latin typeface="Calibri"/>
              </a:rPr>
              <a:t>▸ </a:t>
            </a:r>
            <a:r>
              <a:rPr sz="1800" b="0" i="0">
                <a:solidFill>
                  <a:srgbClr val="222A33"/>
                </a:solidFill>
                <a:latin typeface="Calibri"/>
              </a:rPr>
              <a:t>Our answer: fuse complementary modalities, weight them by signal quality, and explain every prediction.</a:t>
            </a:r>
          </a:p>
        </p:txBody>
      </p:sp>
      <p:sp>
        <p:nvSpPr>
          <p:cNvPr id="6" name="Rectangle 5"/>
          <p:cNvSpPr/>
          <p:nvPr/>
        </p:nvSpPr>
        <p:spPr>
          <a:xfrm>
            <a:off x="0" y="6565392"/>
            <a:ext cx="12191695" cy="292608"/>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6547104"/>
            <a:ext cx="8229600" cy="274320"/>
          </a:xfrm>
          <a:prstGeom prst="rect">
            <a:avLst/>
          </a:prstGeom>
          <a:noFill/>
        </p:spPr>
        <p:txBody>
          <a:bodyPr wrap="square" anchor="ctr">
            <a:spAutoFit/>
          </a:bodyPr>
          <a:lstStyle/>
          <a:p>
            <a:r>
              <a:rPr sz="1000" b="0" i="0">
                <a:solidFill>
                  <a:srgbClr val="FFFFFF"/>
                </a:solidFill>
                <a:latin typeface="Calibri"/>
              </a:rPr>
              <a:t>MedOracle  ·  Interim Review 2026  ·  University of Moratuwa</a:t>
            </a:r>
          </a:p>
        </p:txBody>
      </p:sp>
      <p:sp>
        <p:nvSpPr>
          <p:cNvPr id="8" name="TextBox 7"/>
          <p:cNvSpPr txBox="1"/>
          <p:nvPr/>
        </p:nvSpPr>
        <p:spPr>
          <a:xfrm>
            <a:off x="11094415" y="6547104"/>
            <a:ext cx="731520" cy="274320"/>
          </a:xfrm>
          <a:prstGeom prst="rect">
            <a:avLst/>
          </a:prstGeom>
          <a:noFill/>
        </p:spPr>
        <p:txBody>
          <a:bodyPr wrap="square" anchor="ctr">
            <a:spAutoFit/>
          </a:bodyPr>
          <a:lstStyle/>
          <a:p>
            <a:pPr algn="r"/>
            <a:r>
              <a:rPr sz="1000" b="0" i="0">
                <a:solidFill>
                  <a:srgbClr val="FFFFFF"/>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961120" cy="777240"/>
          </a:xfrm>
          <a:prstGeom prst="rect">
            <a:avLst/>
          </a:prstGeom>
          <a:noFill/>
        </p:spPr>
        <p:txBody>
          <a:bodyPr wrap="square" anchor="ctr">
            <a:spAutoFit/>
          </a:bodyPr>
          <a:lstStyle/>
          <a:p>
            <a:r>
              <a:rPr sz="2800" b="1" i="0">
                <a:solidFill>
                  <a:srgbClr val="FFFFFF"/>
                </a:solidFill>
                <a:latin typeface="Calibri"/>
              </a:rPr>
              <a:t>Aim &amp; Objectives</a:t>
            </a:r>
          </a:p>
        </p:txBody>
      </p:sp>
      <p:sp>
        <p:nvSpPr>
          <p:cNvPr id="5" name="TextBox 4"/>
          <p:cNvSpPr txBox="1"/>
          <p:nvPr/>
        </p:nvSpPr>
        <p:spPr>
          <a:xfrm>
            <a:off x="548640" y="1280160"/>
            <a:ext cx="11064240" cy="822960"/>
          </a:xfrm>
          <a:prstGeom prst="rect">
            <a:avLst/>
          </a:prstGeom>
          <a:noFill/>
        </p:spPr>
        <p:txBody>
          <a:bodyPr wrap="square" anchor="t">
            <a:spAutoFit/>
          </a:bodyPr>
          <a:lstStyle/>
          <a:p>
            <a:r>
              <a:rPr sz="1800" b="1" i="0">
                <a:solidFill>
                  <a:srgbClr val="1F3B5B"/>
                </a:solidFill>
                <a:latin typeface="Calibri"/>
              </a:rPr>
              <a:t>Aim:  Build a robust, explainable system that classifies five emotional states by fusing EEG, GSR, and facial video.</a:t>
            </a:r>
          </a:p>
        </p:txBody>
      </p:sp>
      <p:sp>
        <p:nvSpPr>
          <p:cNvPr id="6" name="Rectangle 5"/>
          <p:cNvSpPr/>
          <p:nvPr/>
        </p:nvSpPr>
        <p:spPr>
          <a:xfrm>
            <a:off x="640080" y="2240280"/>
            <a:ext cx="2103120" cy="6400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i="0">
                <a:solidFill>
                  <a:srgbClr val="FFFFFF"/>
                </a:solidFill>
                <a:latin typeface="Calibri"/>
              </a:rPr>
              <a:t>Stress</a:t>
            </a:r>
          </a:p>
        </p:txBody>
      </p:sp>
      <p:sp>
        <p:nvSpPr>
          <p:cNvPr id="7" name="Rectangle 6"/>
          <p:cNvSpPr/>
          <p:nvPr/>
        </p:nvSpPr>
        <p:spPr>
          <a:xfrm>
            <a:off x="2926080" y="2240280"/>
            <a:ext cx="2103120" cy="64008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i="0">
                <a:solidFill>
                  <a:srgbClr val="FFFFFF"/>
                </a:solidFill>
                <a:latin typeface="Calibri"/>
              </a:rPr>
              <a:t>Calm</a:t>
            </a:r>
          </a:p>
        </p:txBody>
      </p:sp>
      <p:sp>
        <p:nvSpPr>
          <p:cNvPr id="8" name="Rectangle 7"/>
          <p:cNvSpPr/>
          <p:nvPr/>
        </p:nvSpPr>
        <p:spPr>
          <a:xfrm>
            <a:off x="5212080" y="2240280"/>
            <a:ext cx="2103120" cy="6400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i="0">
                <a:solidFill>
                  <a:srgbClr val="FFFFFF"/>
                </a:solidFill>
                <a:latin typeface="Calibri"/>
              </a:rPr>
              <a:t>Happy</a:t>
            </a:r>
          </a:p>
        </p:txBody>
      </p:sp>
      <p:sp>
        <p:nvSpPr>
          <p:cNvPr id="9" name="Rectangle 8"/>
          <p:cNvSpPr/>
          <p:nvPr/>
        </p:nvSpPr>
        <p:spPr>
          <a:xfrm>
            <a:off x="7498080" y="2240280"/>
            <a:ext cx="2103120" cy="64008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i="0">
                <a:solidFill>
                  <a:srgbClr val="FFFFFF"/>
                </a:solidFill>
                <a:latin typeface="Calibri"/>
              </a:rPr>
              <a:t>Sad</a:t>
            </a:r>
          </a:p>
        </p:txBody>
      </p:sp>
      <p:sp>
        <p:nvSpPr>
          <p:cNvPr id="10" name="Rectangle 9"/>
          <p:cNvSpPr/>
          <p:nvPr/>
        </p:nvSpPr>
        <p:spPr>
          <a:xfrm>
            <a:off x="9784080" y="2240280"/>
            <a:ext cx="2103120" cy="6400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700" b="1" i="0">
                <a:solidFill>
                  <a:srgbClr val="FFFFFF"/>
                </a:solidFill>
                <a:latin typeface="Calibri"/>
              </a:rPr>
              <a:t>Angry</a:t>
            </a:r>
          </a:p>
        </p:txBody>
      </p:sp>
      <p:sp>
        <p:nvSpPr>
          <p:cNvPr id="11" name="TextBox 10"/>
          <p:cNvSpPr txBox="1"/>
          <p:nvPr/>
        </p:nvSpPr>
        <p:spPr>
          <a:xfrm>
            <a:off x="548640" y="3108960"/>
            <a:ext cx="11064240" cy="5029200"/>
          </a:xfrm>
          <a:prstGeom prst="rect">
            <a:avLst/>
          </a:prstGeom>
          <a:noFill/>
        </p:spPr>
        <p:txBody>
          <a:bodyPr wrap="square" anchor="t">
            <a:spAutoFit/>
          </a:bodyPr>
          <a:lstStyle/>
          <a:p>
            <a:pPr>
              <a:spcBef>
                <a:spcPts val="0"/>
              </a:spcBef>
              <a:spcAft>
                <a:spcPts val="800"/>
              </a:spcAft>
            </a:pPr>
            <a:r>
              <a:rPr sz="1600" b="1" i="0">
                <a:solidFill>
                  <a:srgbClr val="2A9D8F"/>
                </a:solidFill>
                <a:latin typeface="Calibri"/>
              </a:rPr>
              <a:t>▸ </a:t>
            </a:r>
            <a:r>
              <a:rPr sz="1600" b="0" i="0">
                <a:solidFill>
                  <a:srgbClr val="222A33"/>
                </a:solidFill>
                <a:latin typeface="Calibri"/>
              </a:rPr>
              <a:t>Objective 1 — Physiological module: emotion recognition from EEG + GSR (DEAP).</a:t>
            </a:r>
          </a:p>
          <a:p>
            <a:pPr>
              <a:spcBef>
                <a:spcPts val="0"/>
              </a:spcBef>
              <a:spcAft>
                <a:spcPts val="800"/>
              </a:spcAft>
            </a:pPr>
            <a:r>
              <a:rPr sz="1600" b="1" i="0">
                <a:solidFill>
                  <a:srgbClr val="2A9D8F"/>
                </a:solidFill>
                <a:latin typeface="Calibri"/>
              </a:rPr>
              <a:t>▸ </a:t>
            </a:r>
            <a:r>
              <a:rPr sz="1600" b="0" i="0">
                <a:solidFill>
                  <a:srgbClr val="222A33"/>
                </a:solidFill>
                <a:latin typeface="Calibri"/>
              </a:rPr>
              <a:t>Objective 2 — Video module: emotion recognition from facial video (CREMA-D + RAVDESS).</a:t>
            </a:r>
          </a:p>
          <a:p>
            <a:pPr>
              <a:spcBef>
                <a:spcPts val="0"/>
              </a:spcBef>
              <a:spcAft>
                <a:spcPts val="800"/>
              </a:spcAft>
            </a:pPr>
            <a:r>
              <a:rPr sz="1600" b="1" i="0">
                <a:solidFill>
                  <a:srgbClr val="2A9D8F"/>
                </a:solidFill>
                <a:latin typeface="Calibri"/>
              </a:rPr>
              <a:t>▸ </a:t>
            </a:r>
            <a:r>
              <a:rPr sz="1600" b="0" i="0">
                <a:solidFill>
                  <a:srgbClr val="222A33"/>
                </a:solidFill>
                <a:latin typeface="Calibri"/>
              </a:rPr>
              <a:t>Objective 3 — Quality-aware gated fusion that degrades gracefully when a modality is poor or missing.</a:t>
            </a:r>
          </a:p>
          <a:p>
            <a:pPr>
              <a:spcBef>
                <a:spcPts val="0"/>
              </a:spcBef>
              <a:spcAft>
                <a:spcPts val="800"/>
              </a:spcAft>
            </a:pPr>
            <a:r>
              <a:rPr sz="1600" b="1" i="0">
                <a:solidFill>
                  <a:srgbClr val="2A9D8F"/>
                </a:solidFill>
                <a:latin typeface="Calibri"/>
              </a:rPr>
              <a:t>▸ </a:t>
            </a:r>
            <a:r>
              <a:rPr sz="1600" b="0" i="0">
                <a:solidFill>
                  <a:srgbClr val="222A33"/>
                </a:solidFill>
                <a:latin typeface="Calibri"/>
              </a:rPr>
              <a:t>Objective 4 — Explainability layer (Kernel SHAP) + web dashboard with an LLM chatbot.</a:t>
            </a:r>
          </a:p>
          <a:p>
            <a:pPr>
              <a:spcBef>
                <a:spcPts val="0"/>
              </a:spcBef>
              <a:spcAft>
                <a:spcPts val="800"/>
              </a:spcAft>
            </a:pPr>
            <a:r>
              <a:rPr sz="1600" b="1" i="0">
                <a:solidFill>
                  <a:srgbClr val="2A9D8F"/>
                </a:solidFill>
                <a:latin typeface="Calibri"/>
              </a:rPr>
              <a:t>▸ </a:t>
            </a:r>
            <a:r>
              <a:rPr sz="1600" b="0" i="0">
                <a:solidFill>
                  <a:srgbClr val="222A33"/>
                </a:solidFill>
                <a:latin typeface="Calibri"/>
              </a:rPr>
              <a:t>Objective 5 — Rigorous evaluation: per-module cross-validation + a 5-condition ablation study.</a:t>
            </a:r>
          </a:p>
        </p:txBody>
      </p:sp>
      <p:sp>
        <p:nvSpPr>
          <p:cNvPr id="12" name="Rectangle 11"/>
          <p:cNvSpPr/>
          <p:nvPr/>
        </p:nvSpPr>
        <p:spPr>
          <a:xfrm>
            <a:off x="0" y="6565392"/>
            <a:ext cx="12191695" cy="292608"/>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6547104"/>
            <a:ext cx="8229600" cy="274320"/>
          </a:xfrm>
          <a:prstGeom prst="rect">
            <a:avLst/>
          </a:prstGeom>
          <a:noFill/>
        </p:spPr>
        <p:txBody>
          <a:bodyPr wrap="square" anchor="ctr">
            <a:spAutoFit/>
          </a:bodyPr>
          <a:lstStyle/>
          <a:p>
            <a:r>
              <a:rPr sz="1000" b="0" i="0">
                <a:solidFill>
                  <a:srgbClr val="FFFFFF"/>
                </a:solidFill>
                <a:latin typeface="Calibri"/>
              </a:rPr>
              <a:t>MedOracle  ·  Interim Review 2026  ·  University of Moratuwa</a:t>
            </a:r>
          </a:p>
        </p:txBody>
      </p:sp>
      <p:sp>
        <p:nvSpPr>
          <p:cNvPr id="14" name="TextBox 13"/>
          <p:cNvSpPr txBox="1"/>
          <p:nvPr/>
        </p:nvSpPr>
        <p:spPr>
          <a:xfrm>
            <a:off x="11094415" y="6547104"/>
            <a:ext cx="731520" cy="274320"/>
          </a:xfrm>
          <a:prstGeom prst="rect">
            <a:avLst/>
          </a:prstGeom>
          <a:noFill/>
        </p:spPr>
        <p:txBody>
          <a:bodyPr wrap="square" anchor="ctr">
            <a:spAutoFit/>
          </a:bodyPr>
          <a:lstStyle/>
          <a:p>
            <a:pPr algn="r"/>
            <a:r>
              <a:rPr sz="1000" b="0" i="0">
                <a:solidFill>
                  <a:srgbClr val="FFFFFF"/>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961120" cy="777240"/>
          </a:xfrm>
          <a:prstGeom prst="rect">
            <a:avLst/>
          </a:prstGeom>
          <a:noFill/>
        </p:spPr>
        <p:txBody>
          <a:bodyPr wrap="square" anchor="ctr">
            <a:spAutoFit/>
          </a:bodyPr>
          <a:lstStyle/>
          <a:p>
            <a:r>
              <a:rPr sz="2800" b="1" i="0">
                <a:solidFill>
                  <a:srgbClr val="FFFFFF"/>
                </a:solidFill>
                <a:latin typeface="Calibri"/>
              </a:rPr>
              <a:t>System Architecture — End-to-End Pipeline</a:t>
            </a:r>
          </a:p>
        </p:txBody>
      </p:sp>
      <p:sp>
        <p:nvSpPr>
          <p:cNvPr id="5" name="Rectangle 4"/>
          <p:cNvSpPr/>
          <p:nvPr/>
        </p:nvSpPr>
        <p:spPr>
          <a:xfrm>
            <a:off x="457200" y="1920240"/>
            <a:ext cx="2743200" cy="137160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i="0">
                <a:solidFill>
                  <a:srgbClr val="FFFFFF"/>
                </a:solidFill>
                <a:latin typeface="Calibri"/>
              </a:rPr>
              <a:t>M1 · Physiological</a:t>
            </a:r>
          </a:p>
          <a:p>
            <a:pPr algn="ctr"/>
            <a:r>
              <a:rPr sz="1000" b="0" i="0">
                <a:solidFill>
                  <a:srgbClr val="E6ECF2"/>
                </a:solidFill>
                <a:latin typeface="Calibri"/>
              </a:rPr>
              <a:t>EEG+GSR → Bi-Cross-Attention</a:t>
            </a:r>
          </a:p>
        </p:txBody>
      </p:sp>
      <p:sp>
        <p:nvSpPr>
          <p:cNvPr id="6" name="Right Arrow 5"/>
          <p:cNvSpPr/>
          <p:nvPr/>
        </p:nvSpPr>
        <p:spPr>
          <a:xfrm>
            <a:off x="3291840" y="2423160"/>
            <a:ext cx="640080" cy="320040"/>
          </a:xfrm>
          <a:prstGeom prst="rightArrow">
            <a:avLst/>
          </a:prstGeom>
          <a:solidFill>
            <a:srgbClr val="E9A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069080" y="1920240"/>
            <a:ext cx="2743200" cy="13716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i="0">
                <a:solidFill>
                  <a:srgbClr val="FFFFFF"/>
                </a:solidFill>
                <a:latin typeface="Calibri"/>
              </a:rPr>
              <a:t>M2 · Video + Fusion</a:t>
            </a:r>
          </a:p>
          <a:p>
            <a:pPr algn="ctr"/>
            <a:r>
              <a:rPr sz="1000" b="0" i="0">
                <a:solidFill>
                  <a:srgbClr val="E6ECF2"/>
                </a:solidFill>
                <a:latin typeface="Calibri"/>
              </a:rPr>
              <a:t>ResNet50→BiLSTM + Gated Fusion</a:t>
            </a:r>
          </a:p>
        </p:txBody>
      </p:sp>
      <p:sp>
        <p:nvSpPr>
          <p:cNvPr id="8" name="Right Arrow 7"/>
          <p:cNvSpPr/>
          <p:nvPr/>
        </p:nvSpPr>
        <p:spPr>
          <a:xfrm>
            <a:off x="6903720" y="2423160"/>
            <a:ext cx="640080" cy="320040"/>
          </a:xfrm>
          <a:prstGeom prst="rightArrow">
            <a:avLst/>
          </a:prstGeom>
          <a:solidFill>
            <a:srgbClr val="E9A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680960" y="1920240"/>
            <a:ext cx="2743200" cy="137160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i="0">
                <a:solidFill>
                  <a:srgbClr val="FFFFFF"/>
                </a:solidFill>
                <a:latin typeface="Calibri"/>
              </a:rPr>
              <a:t>M3 · Explainability</a:t>
            </a:r>
          </a:p>
          <a:p>
            <a:pPr algn="ctr"/>
            <a:r>
              <a:rPr sz="1000" b="0" i="0">
                <a:solidFill>
                  <a:srgbClr val="E6ECF2"/>
                </a:solidFill>
                <a:latin typeface="Calibri"/>
              </a:rPr>
              <a:t>Kernel SHAP + FastAPI + React</a:t>
            </a:r>
          </a:p>
        </p:txBody>
      </p:sp>
      <p:sp>
        <p:nvSpPr>
          <p:cNvPr id="10" name="Right Arrow 9"/>
          <p:cNvSpPr/>
          <p:nvPr/>
        </p:nvSpPr>
        <p:spPr>
          <a:xfrm>
            <a:off x="10515600" y="2423160"/>
            <a:ext cx="640080" cy="320040"/>
          </a:xfrm>
          <a:prstGeom prst="rightArrow">
            <a:avLst/>
          </a:prstGeom>
          <a:solidFill>
            <a:srgbClr val="E9A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069080" y="3611880"/>
            <a:ext cx="2743200" cy="731520"/>
          </a:xfrm>
          <a:prstGeom prst="rect">
            <a:avLst/>
          </a:prstGeom>
          <a:solidFill>
            <a:srgbClr val="5A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i="0">
                <a:solidFill>
                  <a:srgbClr val="FFFFFF"/>
                </a:solidFill>
                <a:latin typeface="Calibri"/>
              </a:rPr>
              <a:t>Facial video</a:t>
            </a:r>
          </a:p>
          <a:p>
            <a:pPr algn="ctr"/>
            <a:r>
              <a:rPr sz="1000" b="0" i="0">
                <a:solidFill>
                  <a:srgbClr val="E6ECF2"/>
                </a:solidFill>
                <a:latin typeface="Calibri"/>
              </a:rPr>
              <a:t>T=16 frames</a:t>
            </a:r>
          </a:p>
        </p:txBody>
      </p:sp>
      <p:sp>
        <p:nvSpPr>
          <p:cNvPr id="12" name="TextBox 11"/>
          <p:cNvSpPr txBox="1"/>
          <p:nvPr/>
        </p:nvSpPr>
        <p:spPr>
          <a:xfrm>
            <a:off x="548640" y="4572000"/>
            <a:ext cx="11064240" cy="5029200"/>
          </a:xfrm>
          <a:prstGeom prst="rect">
            <a:avLst/>
          </a:prstGeom>
          <a:noFill/>
        </p:spPr>
        <p:txBody>
          <a:bodyPr wrap="square" anchor="t">
            <a:spAutoFit/>
          </a:bodyPr>
          <a:lstStyle/>
          <a:p>
            <a:pPr>
              <a:spcBef>
                <a:spcPts val="0"/>
              </a:spcBef>
              <a:spcAft>
                <a:spcPts val="800"/>
              </a:spcAft>
            </a:pPr>
            <a:r>
              <a:rPr sz="1500" b="1" i="0">
                <a:solidFill>
                  <a:srgbClr val="2A9D8F"/>
                </a:solidFill>
                <a:latin typeface="Calibri"/>
              </a:rPr>
              <a:t>▸ </a:t>
            </a:r>
            <a:r>
              <a:rPr sz="1500" b="0" i="0">
                <a:solidFill>
                  <a:srgbClr val="222A33"/>
                </a:solidFill>
                <a:latin typeface="Calibri"/>
              </a:rPr>
              <a:t>Late (decision-level) fusion — forced by design: DEAP and CREMA-D share NO subjects, so joint training is impossible.</a:t>
            </a:r>
          </a:p>
          <a:p>
            <a:pPr>
              <a:spcBef>
                <a:spcPts val="0"/>
              </a:spcBef>
              <a:spcAft>
                <a:spcPts val="800"/>
              </a:spcAft>
            </a:pPr>
            <a:r>
              <a:rPr sz="1500" b="1" i="0">
                <a:solidFill>
                  <a:srgbClr val="2A9D8F"/>
                </a:solidFill>
                <a:latin typeface="Calibri"/>
              </a:rPr>
              <a:t>▸ </a:t>
            </a:r>
            <a:r>
              <a:rPr sz="1500" b="0" i="0">
                <a:solidFill>
                  <a:srgbClr val="222A33"/>
                </a:solidFill>
                <a:latin typeface="Calibri"/>
              </a:rPr>
              <a:t>Modules communicate through strict interface contracts (validated Python dicts) — enabling independent development.</a:t>
            </a:r>
          </a:p>
          <a:p>
            <a:pPr>
              <a:spcBef>
                <a:spcPts val="0"/>
              </a:spcBef>
              <a:spcAft>
                <a:spcPts val="800"/>
              </a:spcAft>
            </a:pPr>
            <a:r>
              <a:rPr sz="1500" b="1" i="0">
                <a:solidFill>
                  <a:srgbClr val="2A9D8F"/>
                </a:solidFill>
                <a:latin typeface="Calibri"/>
              </a:rPr>
              <a:t>▸ </a:t>
            </a:r>
            <a:r>
              <a:rPr sz="1500" b="0" i="0">
                <a:solidFill>
                  <a:srgbClr val="222A33"/>
                </a:solidFill>
                <a:latin typeface="Calibri"/>
              </a:rPr>
              <a:t>Output: predicted emotion + class probabilities + per-modality weights + signal-quality flags + SHAP attributions.</a:t>
            </a:r>
          </a:p>
        </p:txBody>
      </p:sp>
      <p:sp>
        <p:nvSpPr>
          <p:cNvPr id="13" name="Rectangle 12"/>
          <p:cNvSpPr/>
          <p:nvPr/>
        </p:nvSpPr>
        <p:spPr>
          <a:xfrm>
            <a:off x="0" y="6565392"/>
            <a:ext cx="12191695" cy="292608"/>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6547104"/>
            <a:ext cx="8229600" cy="274320"/>
          </a:xfrm>
          <a:prstGeom prst="rect">
            <a:avLst/>
          </a:prstGeom>
          <a:noFill/>
        </p:spPr>
        <p:txBody>
          <a:bodyPr wrap="square" anchor="ctr">
            <a:spAutoFit/>
          </a:bodyPr>
          <a:lstStyle/>
          <a:p>
            <a:r>
              <a:rPr sz="1000" b="0" i="0">
                <a:solidFill>
                  <a:srgbClr val="FFFFFF"/>
                </a:solidFill>
                <a:latin typeface="Calibri"/>
              </a:rPr>
              <a:t>MedOracle  ·  Interim Review 2026  ·  University of Moratuwa</a:t>
            </a:r>
          </a:p>
        </p:txBody>
      </p:sp>
      <p:sp>
        <p:nvSpPr>
          <p:cNvPr id="15" name="TextBox 14"/>
          <p:cNvSpPr txBox="1"/>
          <p:nvPr/>
        </p:nvSpPr>
        <p:spPr>
          <a:xfrm>
            <a:off x="11094415" y="6547104"/>
            <a:ext cx="731520" cy="274320"/>
          </a:xfrm>
          <a:prstGeom prst="rect">
            <a:avLst/>
          </a:prstGeom>
          <a:noFill/>
        </p:spPr>
        <p:txBody>
          <a:bodyPr wrap="square" anchor="ctr">
            <a:spAutoFit/>
          </a:bodyPr>
          <a:lstStyle/>
          <a:p>
            <a:pPr algn="r"/>
            <a:r>
              <a:rPr sz="1000" b="0" i="0">
                <a:solidFill>
                  <a:srgbClr val="FFFFFF"/>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961120" cy="777240"/>
          </a:xfrm>
          <a:prstGeom prst="rect">
            <a:avLst/>
          </a:prstGeom>
          <a:noFill/>
        </p:spPr>
        <p:txBody>
          <a:bodyPr wrap="square" anchor="ctr">
            <a:spAutoFit/>
          </a:bodyPr>
          <a:lstStyle/>
          <a:p>
            <a:r>
              <a:rPr sz="2800" b="1" i="0">
                <a:solidFill>
                  <a:srgbClr val="FFFFFF"/>
                </a:solidFill>
                <a:latin typeface="Calibri"/>
              </a:rPr>
              <a:t>Datasets &amp; Label Harmonisation</a:t>
            </a:r>
          </a:p>
        </p:txBody>
      </p:sp>
      <p:sp>
        <p:nvSpPr>
          <p:cNvPr id="5" name="Rectangle 4"/>
          <p:cNvSpPr/>
          <p:nvPr/>
        </p:nvSpPr>
        <p:spPr>
          <a:xfrm>
            <a:off x="411480" y="1371600"/>
            <a:ext cx="5486400" cy="5029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371600"/>
            <a:ext cx="5120640" cy="502920"/>
          </a:xfrm>
          <a:prstGeom prst="rect">
            <a:avLst/>
          </a:prstGeom>
          <a:noFill/>
        </p:spPr>
        <p:txBody>
          <a:bodyPr wrap="square" anchor="ctr">
            <a:spAutoFit/>
          </a:bodyPr>
          <a:lstStyle/>
          <a:p>
            <a:r>
              <a:rPr sz="1500" b="1" i="0">
                <a:solidFill>
                  <a:srgbClr val="FFFFFF"/>
                </a:solidFill>
                <a:latin typeface="Calibri"/>
              </a:rPr>
              <a:t>DEAP  (physiological)</a:t>
            </a:r>
          </a:p>
        </p:txBody>
      </p:sp>
      <p:sp>
        <p:nvSpPr>
          <p:cNvPr id="7" name="Rectangle 6"/>
          <p:cNvSpPr/>
          <p:nvPr/>
        </p:nvSpPr>
        <p:spPr>
          <a:xfrm>
            <a:off x="411480" y="1874520"/>
            <a:ext cx="5486400" cy="43434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029968"/>
            <a:ext cx="5120640" cy="4114800"/>
          </a:xfrm>
          <a:prstGeom prst="rect">
            <a:avLst/>
          </a:prstGeom>
          <a:noFill/>
        </p:spPr>
        <p:txBody>
          <a:bodyPr wrap="square" anchor="t">
            <a:spAutoFit/>
          </a:bodyPr>
          <a:lstStyle/>
          <a:p>
            <a:pPr>
              <a:spcBef>
                <a:spcPts val="0"/>
              </a:spcBef>
              <a:spcAft>
                <a:spcPts val="500"/>
              </a:spcAft>
            </a:pPr>
            <a:r>
              <a:rPr sz="1400" b="1" i="0">
                <a:solidFill>
                  <a:srgbClr val="2A9D8F"/>
                </a:solidFill>
                <a:latin typeface="Calibri"/>
              </a:rPr>
              <a:t>▸ </a:t>
            </a:r>
            <a:r>
              <a:rPr sz="1400" b="0" i="0">
                <a:solidFill>
                  <a:srgbClr val="222A33"/>
                </a:solidFill>
                <a:latin typeface="Calibri"/>
              </a:rPr>
              <a:t>32 subjects · EEG (32ch, 128 Hz) + GSR</a:t>
            </a:r>
          </a:p>
          <a:p>
            <a:pPr>
              <a:spcBef>
                <a:spcPts val="0"/>
              </a:spcBef>
              <a:spcAft>
                <a:spcPts val="500"/>
              </a:spcAft>
            </a:pPr>
            <a:r>
              <a:rPr sz="1400" b="1" i="0">
                <a:solidFill>
                  <a:srgbClr val="2A9D8F"/>
                </a:solidFill>
                <a:latin typeface="Calibri"/>
              </a:rPr>
              <a:t>▸ </a:t>
            </a:r>
            <a:r>
              <a:rPr sz="1400" b="0" i="0">
                <a:solidFill>
                  <a:srgbClr val="222A33"/>
                </a:solidFill>
                <a:latin typeface="Calibri"/>
              </a:rPr>
              <a:t>Continuous Valence / Arousal / Dominance</a:t>
            </a:r>
          </a:p>
          <a:p>
            <a:pPr lvl="1">
              <a:spcBef>
                <a:spcPts val="0"/>
              </a:spcBef>
              <a:spcAft>
                <a:spcPts val="500"/>
              </a:spcAft>
            </a:pPr>
            <a:r>
              <a:rPr sz="1200" b="1" i="0">
                <a:solidFill>
                  <a:srgbClr val="E9A84A"/>
                </a:solidFill>
                <a:latin typeface="Calibri"/>
              </a:rPr>
              <a:t>     – </a:t>
            </a:r>
            <a:r>
              <a:rPr sz="1200" b="0" i="0">
                <a:solidFill>
                  <a:srgbClr val="5A636E"/>
                </a:solidFill>
                <a:latin typeface="Calibri"/>
              </a:rPr>
              <a:t>Mapped to 5 classes via V/A/D thresholds</a:t>
            </a:r>
          </a:p>
          <a:p>
            <a:pPr lvl="2">
              <a:spcBef>
                <a:spcPts val="0"/>
              </a:spcBef>
              <a:spcAft>
                <a:spcPts val="500"/>
              </a:spcAft>
            </a:pPr>
            <a:r>
              <a:rPr sz="1100" b="0" i="0">
                <a:solidFill>
                  <a:srgbClr val="5A636E"/>
                </a:solidFill>
                <a:latin typeface="Calibri"/>
              </a:rPr>
              <a:t>          • e.g. low-V / high-A / low-D → stress</a:t>
            </a:r>
          </a:p>
          <a:p>
            <a:pPr lvl="1">
              <a:spcBef>
                <a:spcPts val="0"/>
              </a:spcBef>
              <a:spcAft>
                <a:spcPts val="500"/>
              </a:spcAft>
            </a:pPr>
            <a:r>
              <a:rPr sz="1200" b="1" i="0">
                <a:solidFill>
                  <a:srgbClr val="E9A84A"/>
                </a:solidFill>
                <a:latin typeface="Calibri"/>
              </a:rPr>
              <a:t>     – </a:t>
            </a:r>
            <a:r>
              <a:rPr sz="1200" b="0" i="0">
                <a:solidFill>
                  <a:srgbClr val="5A636E"/>
                </a:solidFill>
                <a:latin typeface="Calibri"/>
              </a:rPr>
              <a:t>Grounded in Russell (1980), Mehrabian (1996)</a:t>
            </a:r>
          </a:p>
        </p:txBody>
      </p:sp>
      <p:sp>
        <p:nvSpPr>
          <p:cNvPr id="9" name="Rectangle 8"/>
          <p:cNvSpPr/>
          <p:nvPr/>
        </p:nvSpPr>
        <p:spPr>
          <a:xfrm>
            <a:off x="6263640" y="1371600"/>
            <a:ext cx="5486400" cy="50292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371600"/>
            <a:ext cx="5120640" cy="502920"/>
          </a:xfrm>
          <a:prstGeom prst="rect">
            <a:avLst/>
          </a:prstGeom>
          <a:noFill/>
        </p:spPr>
        <p:txBody>
          <a:bodyPr wrap="square" anchor="ctr">
            <a:spAutoFit/>
          </a:bodyPr>
          <a:lstStyle/>
          <a:p>
            <a:r>
              <a:rPr sz="1500" b="1" i="0">
                <a:solidFill>
                  <a:srgbClr val="FFFFFF"/>
                </a:solidFill>
                <a:latin typeface="Calibri"/>
              </a:rPr>
              <a:t>CREMA-D + RAVDESS  (video)</a:t>
            </a:r>
          </a:p>
        </p:txBody>
      </p:sp>
      <p:sp>
        <p:nvSpPr>
          <p:cNvPr id="11" name="Rectangle 10"/>
          <p:cNvSpPr/>
          <p:nvPr/>
        </p:nvSpPr>
        <p:spPr>
          <a:xfrm>
            <a:off x="6263640" y="1874520"/>
            <a:ext cx="5486400" cy="43434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2029968"/>
            <a:ext cx="5120640" cy="4114800"/>
          </a:xfrm>
          <a:prstGeom prst="rect">
            <a:avLst/>
          </a:prstGeom>
          <a:noFill/>
        </p:spPr>
        <p:txBody>
          <a:bodyPr wrap="square" anchor="t">
            <a:spAutoFit/>
          </a:bodyPr>
          <a:lstStyle/>
          <a:p>
            <a:pPr>
              <a:spcBef>
                <a:spcPts val="0"/>
              </a:spcBef>
              <a:spcAft>
                <a:spcPts val="500"/>
              </a:spcAft>
            </a:pPr>
            <a:r>
              <a:rPr sz="1400" b="1" i="0">
                <a:solidFill>
                  <a:srgbClr val="2A9D8F"/>
                </a:solidFill>
                <a:latin typeface="Calibri"/>
              </a:rPr>
              <a:t>▸ </a:t>
            </a:r>
            <a:r>
              <a:rPr sz="1400" b="0" i="0">
                <a:solidFill>
                  <a:srgbClr val="222A33"/>
                </a:solidFill>
                <a:latin typeface="Calibri"/>
              </a:rPr>
              <a:t>CREMA-D: 91 actors · 7,442 clips → 6,171</a:t>
            </a:r>
          </a:p>
          <a:p>
            <a:pPr>
              <a:spcBef>
                <a:spcPts val="0"/>
              </a:spcBef>
              <a:spcAft>
                <a:spcPts val="500"/>
              </a:spcAft>
            </a:pPr>
            <a:r>
              <a:rPr sz="1400" b="1" i="0">
                <a:solidFill>
                  <a:srgbClr val="2A9D8F"/>
                </a:solidFill>
                <a:latin typeface="Calibri"/>
              </a:rPr>
              <a:t>▸ </a:t>
            </a:r>
            <a:r>
              <a:rPr sz="1400" b="0" i="0">
                <a:solidFill>
                  <a:srgbClr val="222A33"/>
                </a:solidFill>
                <a:latin typeface="Calibri"/>
              </a:rPr>
              <a:t>RAVDESS: 24 actors  (added for diversity)</a:t>
            </a:r>
          </a:p>
          <a:p>
            <a:pPr lvl="1">
              <a:spcBef>
                <a:spcPts val="0"/>
              </a:spcBef>
              <a:spcAft>
                <a:spcPts val="500"/>
              </a:spcAft>
            </a:pPr>
            <a:r>
              <a:rPr sz="1200" b="1" i="0">
                <a:solidFill>
                  <a:srgbClr val="E9A84A"/>
                </a:solidFill>
                <a:latin typeface="Calibri"/>
              </a:rPr>
              <a:t>     – </a:t>
            </a:r>
            <a:r>
              <a:rPr sz="1200" b="0" i="0">
                <a:solidFill>
                  <a:srgbClr val="5A636E"/>
                </a:solidFill>
                <a:latin typeface="Calibri"/>
              </a:rPr>
              <a:t>ANG→angry, HAP→happy, SAD→sad</a:t>
            </a:r>
          </a:p>
          <a:p>
            <a:pPr lvl="1">
              <a:spcBef>
                <a:spcPts val="0"/>
              </a:spcBef>
              <a:spcAft>
                <a:spcPts val="500"/>
              </a:spcAft>
            </a:pPr>
            <a:r>
              <a:rPr sz="1200" b="1" i="0">
                <a:solidFill>
                  <a:srgbClr val="E9A84A"/>
                </a:solidFill>
                <a:latin typeface="Calibri"/>
              </a:rPr>
              <a:t>     – </a:t>
            </a:r>
            <a:r>
              <a:rPr sz="1200" b="0" i="0">
                <a:solidFill>
                  <a:srgbClr val="5A636E"/>
                </a:solidFill>
                <a:latin typeface="Calibri"/>
              </a:rPr>
              <a:t>NEU→calm, FEA→stress (Kreibig 2010)</a:t>
            </a:r>
          </a:p>
          <a:p>
            <a:pPr lvl="1">
              <a:spcBef>
                <a:spcPts val="0"/>
              </a:spcBef>
              <a:spcAft>
                <a:spcPts val="500"/>
              </a:spcAft>
            </a:pPr>
            <a:r>
              <a:rPr sz="1200" b="1" i="0">
                <a:solidFill>
                  <a:srgbClr val="E9A84A"/>
                </a:solidFill>
                <a:latin typeface="Calibri"/>
              </a:rPr>
              <a:t>     – </a:t>
            </a:r>
            <a:r>
              <a:rPr sz="1200" b="0" i="0">
                <a:solidFill>
                  <a:srgbClr val="5A636E"/>
                </a:solidFill>
                <a:latin typeface="Calibri"/>
              </a:rPr>
              <a:t>DIS (disgust) → dropped: no clean mapping</a:t>
            </a:r>
          </a:p>
        </p:txBody>
      </p:sp>
      <p:sp>
        <p:nvSpPr>
          <p:cNvPr id="14" name="Rectangle 13"/>
          <p:cNvSpPr/>
          <p:nvPr/>
        </p:nvSpPr>
        <p:spPr>
          <a:xfrm>
            <a:off x="0" y="6565392"/>
            <a:ext cx="12191695" cy="292608"/>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6547104"/>
            <a:ext cx="8229600" cy="274320"/>
          </a:xfrm>
          <a:prstGeom prst="rect">
            <a:avLst/>
          </a:prstGeom>
          <a:noFill/>
        </p:spPr>
        <p:txBody>
          <a:bodyPr wrap="square" anchor="ctr">
            <a:spAutoFit/>
          </a:bodyPr>
          <a:lstStyle/>
          <a:p>
            <a:r>
              <a:rPr sz="1000" b="0" i="0">
                <a:solidFill>
                  <a:srgbClr val="FFFFFF"/>
                </a:solidFill>
                <a:latin typeface="Calibri"/>
              </a:rPr>
              <a:t>MedOracle  ·  Interim Review 2026  ·  University of Moratuwa</a:t>
            </a:r>
          </a:p>
        </p:txBody>
      </p:sp>
      <p:sp>
        <p:nvSpPr>
          <p:cNvPr id="16" name="TextBox 15"/>
          <p:cNvSpPr txBox="1"/>
          <p:nvPr/>
        </p:nvSpPr>
        <p:spPr>
          <a:xfrm>
            <a:off x="11094415" y="6547104"/>
            <a:ext cx="731520" cy="274320"/>
          </a:xfrm>
          <a:prstGeom prst="rect">
            <a:avLst/>
          </a:prstGeom>
          <a:noFill/>
        </p:spPr>
        <p:txBody>
          <a:bodyPr wrap="square" anchor="ctr">
            <a:spAutoFit/>
          </a:bodyPr>
          <a:lstStyle/>
          <a:p>
            <a:pPr algn="r"/>
            <a:r>
              <a:rPr sz="1000" b="0" i="0">
                <a:solidFill>
                  <a:srgbClr val="FFFFFF"/>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961120" cy="777240"/>
          </a:xfrm>
          <a:prstGeom prst="rect">
            <a:avLst/>
          </a:prstGeom>
          <a:noFill/>
        </p:spPr>
        <p:txBody>
          <a:bodyPr wrap="square" anchor="ctr">
            <a:spAutoFit/>
          </a:bodyPr>
          <a:lstStyle/>
          <a:p>
            <a:r>
              <a:rPr sz="2800" b="1" i="0">
                <a:solidFill>
                  <a:srgbClr val="FFFFFF"/>
                </a:solidFill>
                <a:latin typeface="Calibri"/>
              </a:rPr>
              <a:t>Physiological Module — Signal Pipeline</a:t>
            </a:r>
          </a:p>
        </p:txBody>
      </p:sp>
      <p:sp>
        <p:nvSpPr>
          <p:cNvPr id="5" name="Rectangle 4"/>
          <p:cNvSpPr/>
          <p:nvPr/>
        </p:nvSpPr>
        <p:spPr>
          <a:xfrm>
            <a:off x="9082735" y="310896"/>
            <a:ext cx="2651760" cy="45720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Member 1 · Suhira</a:t>
            </a:r>
          </a:p>
        </p:txBody>
      </p:sp>
      <p:sp>
        <p:nvSpPr>
          <p:cNvPr id="6" name="TextBox 5"/>
          <p:cNvSpPr txBox="1"/>
          <p:nvPr/>
        </p:nvSpPr>
        <p:spPr>
          <a:xfrm>
            <a:off x="548640" y="1371600"/>
            <a:ext cx="11064240" cy="5029200"/>
          </a:xfrm>
          <a:prstGeom prst="rect">
            <a:avLst/>
          </a:prstGeom>
          <a:noFill/>
        </p:spPr>
        <p:txBody>
          <a:bodyPr wrap="square" anchor="t">
            <a:spAutoFit/>
          </a:bodyPr>
          <a:lstStyle/>
          <a:p>
            <a:pPr>
              <a:spcBef>
                <a:spcPts val="0"/>
              </a:spcBef>
              <a:spcAft>
                <a:spcPts val="700"/>
              </a:spcAft>
            </a:pPr>
            <a:r>
              <a:rPr sz="1600" b="1" i="0">
                <a:solidFill>
                  <a:srgbClr val="2A9D8F"/>
                </a:solidFill>
                <a:latin typeface="Calibri"/>
              </a:rPr>
              <a:t>▸ </a:t>
            </a:r>
            <a:r>
              <a:rPr sz="1600" b="0" i="0">
                <a:solidFill>
                  <a:srgbClr val="222A33"/>
                </a:solidFill>
                <a:latin typeface="Calibri"/>
              </a:rPr>
              <a:t>DEAP dataset (Queen Mary U.) downloaded &amp; verified against official spec — all 32 subjects, channel config, sampling rate, V/A/D ranges.</a:t>
            </a:r>
          </a:p>
          <a:p>
            <a:pPr>
              <a:spcBef>
                <a:spcPts val="0"/>
              </a:spcBef>
              <a:spcAft>
                <a:spcPts val="700"/>
              </a:spcAft>
            </a:pPr>
            <a:r>
              <a:rPr sz="1600" b="1" i="0">
                <a:solidFill>
                  <a:srgbClr val="2A9D8F"/>
                </a:solidFill>
                <a:latin typeface="Calibri"/>
              </a:rPr>
              <a:t>▸ </a:t>
            </a:r>
            <a:r>
              <a:rPr sz="1600" b="0" i="0">
                <a:solidFill>
                  <a:srgbClr val="222A33"/>
                </a:solidFill>
                <a:latin typeface="Calibri"/>
              </a:rPr>
              <a:t>EEG + GSR preprocessing implemented in Python / NumPy / PyTorch (Google Colab):</a:t>
            </a:r>
          </a:p>
          <a:p>
            <a:pPr lvl="1">
              <a:spcBef>
                <a:spcPts val="0"/>
              </a:spcBef>
              <a:spcAft>
                <a:spcPts val="700"/>
              </a:spcAft>
            </a:pPr>
            <a:r>
              <a:rPr sz="1400" b="1" i="0">
                <a:solidFill>
                  <a:srgbClr val="E9A84A"/>
                </a:solidFill>
                <a:latin typeface="Calibri"/>
              </a:rPr>
              <a:t>     – </a:t>
            </a:r>
            <a:r>
              <a:rPr sz="1400" b="0" i="0">
                <a:solidFill>
                  <a:srgbClr val="5A636E"/>
                </a:solidFill>
                <a:latin typeface="Calibri"/>
              </a:rPr>
              <a:t>Subject-wise loading · epoch segmentation into 4-second windows</a:t>
            </a:r>
          </a:p>
          <a:p>
            <a:pPr lvl="1">
              <a:spcBef>
                <a:spcPts val="0"/>
              </a:spcBef>
              <a:spcAft>
                <a:spcPts val="700"/>
              </a:spcAft>
            </a:pPr>
            <a:r>
              <a:rPr sz="1400" b="1" i="0">
                <a:solidFill>
                  <a:srgbClr val="E9A84A"/>
                </a:solidFill>
                <a:latin typeface="Calibri"/>
              </a:rPr>
              <a:t>     – </a:t>
            </a:r>
            <a:r>
              <a:rPr sz="1400" b="0" i="0">
                <a:solidFill>
                  <a:srgbClr val="5A636E"/>
                </a:solidFill>
                <a:latin typeface="Calibri"/>
              </a:rPr>
              <a:t>EEG channel extraction · GSR signal extraction</a:t>
            </a:r>
          </a:p>
          <a:p>
            <a:pPr>
              <a:spcBef>
                <a:spcPts val="0"/>
              </a:spcBef>
              <a:spcAft>
                <a:spcPts val="700"/>
              </a:spcAft>
            </a:pPr>
            <a:r>
              <a:rPr sz="1600" b="1" i="0">
                <a:solidFill>
                  <a:srgbClr val="2A9D8F"/>
                </a:solidFill>
                <a:latin typeface="Calibri"/>
              </a:rPr>
              <a:t>▸ </a:t>
            </a:r>
            <a:r>
              <a:rPr sz="1600" b="0" i="0">
                <a:solidFill>
                  <a:srgbClr val="222A33"/>
                </a:solidFill>
                <a:latin typeface="Calibri"/>
              </a:rPr>
              <a:t>Feature extraction designed:</a:t>
            </a:r>
          </a:p>
          <a:p>
            <a:pPr lvl="1">
              <a:spcBef>
                <a:spcPts val="0"/>
              </a:spcBef>
              <a:spcAft>
                <a:spcPts val="700"/>
              </a:spcAft>
            </a:pPr>
            <a:r>
              <a:rPr sz="1400" b="1" i="0">
                <a:solidFill>
                  <a:srgbClr val="E9A84A"/>
                </a:solidFill>
                <a:latin typeface="Calibri"/>
              </a:rPr>
              <a:t>     – </a:t>
            </a:r>
            <a:r>
              <a:rPr sz="1400" b="0" i="0">
                <a:solidFill>
                  <a:srgbClr val="5A636E"/>
                </a:solidFill>
                <a:latin typeface="Calibri"/>
              </a:rPr>
              <a:t>EEG — Differential Entropy across delta/theta/alpha/beta/gamma bands (all 32 channels)</a:t>
            </a:r>
          </a:p>
          <a:p>
            <a:pPr lvl="1">
              <a:spcBef>
                <a:spcPts val="0"/>
              </a:spcBef>
              <a:spcAft>
                <a:spcPts val="700"/>
              </a:spcAft>
            </a:pPr>
            <a:r>
              <a:rPr sz="1400" b="1" i="0">
                <a:solidFill>
                  <a:srgbClr val="E9A84A"/>
                </a:solidFill>
                <a:latin typeface="Calibri"/>
              </a:rPr>
              <a:t>     – </a:t>
            </a:r>
            <a:r>
              <a:rPr sz="1400" b="0" i="0">
                <a:solidFill>
                  <a:srgbClr val="5A636E"/>
                </a:solidFill>
                <a:latin typeface="Calibri"/>
              </a:rPr>
              <a:t>GSR — temporal &amp; variability statistics (physiological arousal)</a:t>
            </a:r>
          </a:p>
          <a:p>
            <a:pPr>
              <a:spcBef>
                <a:spcPts val="0"/>
              </a:spcBef>
              <a:spcAft>
                <a:spcPts val="700"/>
              </a:spcAft>
            </a:pPr>
            <a:r>
              <a:rPr sz="1600" b="1" i="0">
                <a:solidFill>
                  <a:srgbClr val="2A9D8F"/>
                </a:solidFill>
                <a:latin typeface="Calibri"/>
              </a:rPr>
              <a:t>▸ </a:t>
            </a:r>
            <a:r>
              <a:rPr sz="1600" b="0" i="0">
                <a:solidFill>
                  <a:srgbClr val="222A33"/>
                </a:solidFill>
                <a:latin typeface="Calibri"/>
              </a:rPr>
              <a:t>Signal-quality grading (good / degraded / poor) designed to feed Member 2's gated fusion.</a:t>
            </a:r>
          </a:p>
          <a:p>
            <a:pPr>
              <a:spcBef>
                <a:spcPts val="0"/>
              </a:spcBef>
              <a:spcAft>
                <a:spcPts val="700"/>
              </a:spcAft>
            </a:pPr>
            <a:r>
              <a:rPr sz="1600" b="1" i="0">
                <a:solidFill>
                  <a:srgbClr val="2A9D8F"/>
                </a:solidFill>
                <a:latin typeface="Calibri"/>
              </a:rPr>
              <a:t>▸ </a:t>
            </a:r>
            <a:r>
              <a:rPr sz="1600" b="0" i="0">
                <a:solidFill>
                  <a:srgbClr val="222A33"/>
                </a:solidFill>
                <a:latin typeface="Calibri"/>
              </a:rPr>
              <a:t>Shared 5-class label harmonisation integrated into the physiological pipeline.</a:t>
            </a:r>
          </a:p>
        </p:txBody>
      </p:sp>
      <p:sp>
        <p:nvSpPr>
          <p:cNvPr id="7" name="Rectangle 6"/>
          <p:cNvSpPr/>
          <p:nvPr/>
        </p:nvSpPr>
        <p:spPr>
          <a:xfrm>
            <a:off x="0" y="6565392"/>
            <a:ext cx="12191695" cy="292608"/>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547104"/>
            <a:ext cx="8229600" cy="274320"/>
          </a:xfrm>
          <a:prstGeom prst="rect">
            <a:avLst/>
          </a:prstGeom>
          <a:noFill/>
        </p:spPr>
        <p:txBody>
          <a:bodyPr wrap="square" anchor="ctr">
            <a:spAutoFit/>
          </a:bodyPr>
          <a:lstStyle/>
          <a:p>
            <a:r>
              <a:rPr sz="1000" b="0" i="0">
                <a:solidFill>
                  <a:srgbClr val="FFFFFF"/>
                </a:solidFill>
                <a:latin typeface="Calibri"/>
              </a:rPr>
              <a:t>MedOracle  ·  Interim Review 2026  ·  University of Moratuwa</a:t>
            </a:r>
          </a:p>
        </p:txBody>
      </p:sp>
      <p:sp>
        <p:nvSpPr>
          <p:cNvPr id="9" name="TextBox 8"/>
          <p:cNvSpPr txBox="1"/>
          <p:nvPr/>
        </p:nvSpPr>
        <p:spPr>
          <a:xfrm>
            <a:off x="11094415" y="6547104"/>
            <a:ext cx="731520" cy="274320"/>
          </a:xfrm>
          <a:prstGeom prst="rect">
            <a:avLst/>
          </a:prstGeom>
          <a:noFill/>
        </p:spPr>
        <p:txBody>
          <a:bodyPr wrap="square" anchor="ctr">
            <a:spAutoFit/>
          </a:bodyPr>
          <a:lstStyle/>
          <a:p>
            <a:pPr algn="r"/>
            <a:r>
              <a:rPr sz="1000" b="0" i="0">
                <a:solidFill>
                  <a:srgbClr val="FFFFFF"/>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961120" cy="777240"/>
          </a:xfrm>
          <a:prstGeom prst="rect">
            <a:avLst/>
          </a:prstGeom>
          <a:noFill/>
        </p:spPr>
        <p:txBody>
          <a:bodyPr wrap="square" anchor="ctr">
            <a:spAutoFit/>
          </a:bodyPr>
          <a:lstStyle/>
          <a:p>
            <a:r>
              <a:rPr sz="2800" b="1" i="0">
                <a:solidFill>
                  <a:srgbClr val="FFFFFF"/>
                </a:solidFill>
                <a:latin typeface="Calibri"/>
              </a:rPr>
              <a:t>Physiological Module — Model &amp; Status</a:t>
            </a:r>
          </a:p>
        </p:txBody>
      </p:sp>
      <p:sp>
        <p:nvSpPr>
          <p:cNvPr id="5" name="Rectangle 4"/>
          <p:cNvSpPr/>
          <p:nvPr/>
        </p:nvSpPr>
        <p:spPr>
          <a:xfrm>
            <a:off x="9082735" y="310896"/>
            <a:ext cx="2651760" cy="45720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Member 1 · Suhira</a:t>
            </a:r>
          </a:p>
        </p:txBody>
      </p:sp>
      <p:sp>
        <p:nvSpPr>
          <p:cNvPr id="6" name="Rectangle 5"/>
          <p:cNvSpPr/>
          <p:nvPr/>
        </p:nvSpPr>
        <p:spPr>
          <a:xfrm>
            <a:off x="411480" y="1371600"/>
            <a:ext cx="5486400" cy="50292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371600"/>
            <a:ext cx="5120640" cy="502920"/>
          </a:xfrm>
          <a:prstGeom prst="rect">
            <a:avLst/>
          </a:prstGeom>
          <a:noFill/>
        </p:spPr>
        <p:txBody>
          <a:bodyPr wrap="square" anchor="ctr">
            <a:spAutoFit/>
          </a:bodyPr>
          <a:lstStyle/>
          <a:p>
            <a:r>
              <a:rPr sz="1500" b="1" i="0">
                <a:solidFill>
                  <a:srgbClr val="FFFFFF"/>
                </a:solidFill>
                <a:latin typeface="Calibri"/>
              </a:rPr>
              <a:t>Architecture (designed)</a:t>
            </a:r>
          </a:p>
        </p:txBody>
      </p:sp>
      <p:sp>
        <p:nvSpPr>
          <p:cNvPr id="8" name="Rectangle 7"/>
          <p:cNvSpPr/>
          <p:nvPr/>
        </p:nvSpPr>
        <p:spPr>
          <a:xfrm>
            <a:off x="411480" y="1874520"/>
            <a:ext cx="5486400" cy="43434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2029968"/>
            <a:ext cx="5120640" cy="4114800"/>
          </a:xfrm>
          <a:prstGeom prst="rect">
            <a:avLst/>
          </a:prstGeom>
          <a:noFill/>
        </p:spPr>
        <p:txBody>
          <a:bodyPr wrap="square" anchor="t">
            <a:spAutoFit/>
          </a:bodyPr>
          <a:lstStyle/>
          <a:p>
            <a:pPr>
              <a:spcBef>
                <a:spcPts val="0"/>
              </a:spcBef>
              <a:spcAft>
                <a:spcPts val="500"/>
              </a:spcAft>
            </a:pPr>
            <a:r>
              <a:rPr sz="1400" b="1" i="0">
                <a:solidFill>
                  <a:srgbClr val="2A9D8F"/>
                </a:solidFill>
                <a:latin typeface="Calibri"/>
              </a:rPr>
              <a:t>▸ </a:t>
            </a:r>
            <a:r>
              <a:rPr sz="1400" b="0" i="0">
                <a:solidFill>
                  <a:srgbClr val="222A33"/>
                </a:solidFill>
                <a:latin typeface="Calibri"/>
              </a:rPr>
              <a:t>Bidirectional Cross-Modal Attention Network</a:t>
            </a:r>
          </a:p>
          <a:p>
            <a:pPr lvl="1">
              <a:spcBef>
                <a:spcPts val="0"/>
              </a:spcBef>
              <a:spcAft>
                <a:spcPts val="500"/>
              </a:spcAft>
            </a:pPr>
            <a:r>
              <a:rPr sz="1200" b="1" i="0">
                <a:solidFill>
                  <a:srgbClr val="E9A84A"/>
                </a:solidFill>
                <a:latin typeface="Calibri"/>
              </a:rPr>
              <a:t>     – </a:t>
            </a:r>
            <a:r>
              <a:rPr sz="1200" b="0" i="0">
                <a:solidFill>
                  <a:srgbClr val="5A636E"/>
                </a:solidFill>
                <a:latin typeface="Calibri"/>
              </a:rPr>
              <a:t>EEG attends to GSR, and GSR attends to EEG</a:t>
            </a:r>
          </a:p>
          <a:p>
            <a:pPr lvl="1">
              <a:spcBef>
                <a:spcPts val="0"/>
              </a:spcBef>
              <a:spcAft>
                <a:spcPts val="500"/>
              </a:spcAft>
            </a:pPr>
            <a:r>
              <a:rPr sz="1200" b="1" i="0">
                <a:solidFill>
                  <a:srgbClr val="E9A84A"/>
                </a:solidFill>
                <a:latin typeface="Calibri"/>
              </a:rPr>
              <a:t>     – </a:t>
            </a:r>
            <a:r>
              <a:rPr sz="1200" b="0" i="0">
                <a:solidFill>
                  <a:srgbClr val="5A636E"/>
                </a:solidFill>
                <a:latin typeface="Calibri"/>
              </a:rPr>
              <a:t>Captures interaction between the two signals</a:t>
            </a:r>
          </a:p>
          <a:p>
            <a:pPr>
              <a:spcBef>
                <a:spcPts val="0"/>
              </a:spcBef>
              <a:spcAft>
                <a:spcPts val="500"/>
              </a:spcAft>
            </a:pPr>
            <a:r>
              <a:rPr sz="1400" b="1" i="0">
                <a:solidFill>
                  <a:srgbClr val="2A9D8F"/>
                </a:solidFill>
                <a:latin typeface="Calibri"/>
              </a:rPr>
              <a:t>▸ </a:t>
            </a:r>
            <a:r>
              <a:rPr sz="1400" b="0" i="0">
                <a:solidFill>
                  <a:srgbClr val="222A33"/>
                </a:solidFill>
                <a:latin typeface="Calibri"/>
              </a:rPr>
              <a:t>Joint classification head → 5-class softmax</a:t>
            </a:r>
          </a:p>
          <a:p>
            <a:pPr>
              <a:spcBef>
                <a:spcPts val="0"/>
              </a:spcBef>
              <a:spcAft>
                <a:spcPts val="500"/>
              </a:spcAft>
            </a:pPr>
            <a:r>
              <a:rPr sz="1400" b="1" i="0">
                <a:solidFill>
                  <a:srgbClr val="2A9D8F"/>
                </a:solidFill>
                <a:latin typeface="Calibri"/>
              </a:rPr>
              <a:t>▸ </a:t>
            </a:r>
            <a:r>
              <a:rPr sz="1400" b="0" i="0">
                <a:solidFill>
                  <a:srgbClr val="222A33"/>
                </a:solidFill>
                <a:latin typeface="Calibri"/>
              </a:rPr>
              <a:t>Exports predict_physiological() → contract dict</a:t>
            </a:r>
          </a:p>
        </p:txBody>
      </p:sp>
      <p:sp>
        <p:nvSpPr>
          <p:cNvPr id="10" name="Rectangle 9"/>
          <p:cNvSpPr/>
          <p:nvPr/>
        </p:nvSpPr>
        <p:spPr>
          <a:xfrm>
            <a:off x="6263640" y="1371600"/>
            <a:ext cx="5486400" cy="5029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371600"/>
            <a:ext cx="5120640" cy="502920"/>
          </a:xfrm>
          <a:prstGeom prst="rect">
            <a:avLst/>
          </a:prstGeom>
          <a:noFill/>
        </p:spPr>
        <p:txBody>
          <a:bodyPr wrap="square" anchor="ctr">
            <a:spAutoFit/>
          </a:bodyPr>
          <a:lstStyle/>
          <a:p>
            <a:r>
              <a:rPr sz="1500" b="1" i="0">
                <a:solidFill>
                  <a:srgbClr val="FFFFFF"/>
                </a:solidFill>
                <a:latin typeface="Calibri"/>
              </a:rPr>
              <a:t>Evaluation &amp; status</a:t>
            </a:r>
          </a:p>
        </p:txBody>
      </p:sp>
      <p:sp>
        <p:nvSpPr>
          <p:cNvPr id="12" name="Rectangle 11"/>
          <p:cNvSpPr/>
          <p:nvPr/>
        </p:nvSpPr>
        <p:spPr>
          <a:xfrm>
            <a:off x="6263640" y="1874520"/>
            <a:ext cx="5486400" cy="43434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2029968"/>
            <a:ext cx="5120640" cy="4114800"/>
          </a:xfrm>
          <a:prstGeom prst="rect">
            <a:avLst/>
          </a:prstGeom>
          <a:noFill/>
        </p:spPr>
        <p:txBody>
          <a:bodyPr wrap="square" anchor="t">
            <a:spAutoFit/>
          </a:bodyPr>
          <a:lstStyle/>
          <a:p>
            <a:pPr>
              <a:spcBef>
                <a:spcPts val="0"/>
              </a:spcBef>
              <a:spcAft>
                <a:spcPts val="500"/>
              </a:spcAft>
            </a:pPr>
            <a:r>
              <a:rPr sz="1400" b="1" i="0">
                <a:solidFill>
                  <a:srgbClr val="2A9D8F"/>
                </a:solidFill>
                <a:latin typeface="Calibri"/>
              </a:rPr>
              <a:t>▸ </a:t>
            </a:r>
            <a:r>
              <a:rPr sz="1400" b="0" i="0">
                <a:solidFill>
                  <a:srgbClr val="222A33"/>
                </a:solidFill>
                <a:latin typeface="Calibri"/>
              </a:rPr>
              <a:t>LOSO — Leave-One-Subject-Out (32 folds)</a:t>
            </a:r>
          </a:p>
          <a:p>
            <a:pPr lvl="1">
              <a:spcBef>
                <a:spcPts val="0"/>
              </a:spcBef>
              <a:spcAft>
                <a:spcPts val="500"/>
              </a:spcAft>
            </a:pPr>
            <a:r>
              <a:rPr sz="1200" b="1" i="0">
                <a:solidFill>
                  <a:srgbClr val="E9A84A"/>
                </a:solidFill>
                <a:latin typeface="Calibri"/>
              </a:rPr>
              <a:t>     – </a:t>
            </a:r>
            <a:r>
              <a:rPr sz="1200" b="0" i="0">
                <a:solidFill>
                  <a:srgbClr val="5A636E"/>
                </a:solidFill>
                <a:latin typeface="Calibri"/>
              </a:rPr>
              <a:t>Tests subject-independent generalisation</a:t>
            </a:r>
          </a:p>
          <a:p>
            <a:pPr>
              <a:spcBef>
                <a:spcPts val="0"/>
              </a:spcBef>
              <a:spcAft>
                <a:spcPts val="500"/>
              </a:spcAft>
            </a:pPr>
            <a:r>
              <a:rPr sz="1400" b="1" i="0">
                <a:solidFill>
                  <a:srgbClr val="2A9D8F"/>
                </a:solidFill>
                <a:latin typeface="Calibri"/>
              </a:rPr>
              <a:t>▸ </a:t>
            </a:r>
            <a:r>
              <a:rPr sz="1400" b="0" i="0">
                <a:solidFill>
                  <a:srgbClr val="222A33"/>
                </a:solidFill>
                <a:latin typeface="Calibri"/>
              </a:rPr>
              <a:t>Class weighting for imbalance (no SMOTE on EEG)</a:t>
            </a:r>
          </a:p>
          <a:p>
            <a:pPr>
              <a:spcBef>
                <a:spcPts val="0"/>
              </a:spcBef>
              <a:spcAft>
                <a:spcPts val="500"/>
              </a:spcAft>
            </a:pPr>
            <a:r>
              <a:rPr sz="1400" b="1" i="0">
                <a:solidFill>
                  <a:srgbClr val="2A9D8F"/>
                </a:solidFill>
                <a:latin typeface="Calibri"/>
              </a:rPr>
              <a:t>▸ </a:t>
            </a:r>
            <a:r>
              <a:rPr sz="1400" b="0" i="0">
                <a:solidFill>
                  <a:srgbClr val="222A33"/>
                </a:solidFill>
                <a:latin typeface="Calibri"/>
              </a:rPr>
              <a:t>Metric: mean ± std macro-F1 across 32 folds</a:t>
            </a:r>
          </a:p>
          <a:p>
            <a:pPr>
              <a:spcBef>
                <a:spcPts val="0"/>
              </a:spcBef>
              <a:spcAft>
                <a:spcPts val="500"/>
              </a:spcAft>
            </a:pPr>
            <a:r>
              <a:rPr sz="1400" b="1" i="0">
                <a:solidFill>
                  <a:srgbClr val="2A9D8F"/>
                </a:solidFill>
                <a:latin typeface="Calibri"/>
              </a:rPr>
              <a:t>▸ </a:t>
            </a:r>
            <a:r>
              <a:rPr sz="1400" b="0" i="0">
                <a:solidFill>
                  <a:srgbClr val="222A33"/>
                </a:solidFill>
                <a:latin typeface="Calibri"/>
              </a:rPr>
              <a:t>Status: preprocessing validated; training &amp; LOSO in progress</a:t>
            </a:r>
          </a:p>
        </p:txBody>
      </p:sp>
      <p:sp>
        <p:nvSpPr>
          <p:cNvPr id="14" name="Rectangle 13"/>
          <p:cNvSpPr/>
          <p:nvPr/>
        </p:nvSpPr>
        <p:spPr>
          <a:xfrm>
            <a:off x="0" y="6565392"/>
            <a:ext cx="12191695" cy="292608"/>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6547104"/>
            <a:ext cx="8229600" cy="274320"/>
          </a:xfrm>
          <a:prstGeom prst="rect">
            <a:avLst/>
          </a:prstGeom>
          <a:noFill/>
        </p:spPr>
        <p:txBody>
          <a:bodyPr wrap="square" anchor="ctr">
            <a:spAutoFit/>
          </a:bodyPr>
          <a:lstStyle/>
          <a:p>
            <a:r>
              <a:rPr sz="1000" b="0" i="0">
                <a:solidFill>
                  <a:srgbClr val="FFFFFF"/>
                </a:solidFill>
                <a:latin typeface="Calibri"/>
              </a:rPr>
              <a:t>MedOracle  ·  Interim Review 2026  ·  University of Moratuwa</a:t>
            </a:r>
          </a:p>
        </p:txBody>
      </p:sp>
      <p:sp>
        <p:nvSpPr>
          <p:cNvPr id="16" name="TextBox 15"/>
          <p:cNvSpPr txBox="1"/>
          <p:nvPr/>
        </p:nvSpPr>
        <p:spPr>
          <a:xfrm>
            <a:off x="11094415" y="6547104"/>
            <a:ext cx="731520" cy="274320"/>
          </a:xfrm>
          <a:prstGeom prst="rect">
            <a:avLst/>
          </a:prstGeom>
          <a:noFill/>
        </p:spPr>
        <p:txBody>
          <a:bodyPr wrap="square" anchor="ctr">
            <a:spAutoFit/>
          </a:bodyPr>
          <a:lstStyle/>
          <a:p>
            <a:pPr algn="r"/>
            <a:r>
              <a:rPr sz="1000" b="0" i="0">
                <a:solidFill>
                  <a:srgbClr val="FFFFFF"/>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961120" cy="777240"/>
          </a:xfrm>
          <a:prstGeom prst="rect">
            <a:avLst/>
          </a:prstGeom>
          <a:noFill/>
        </p:spPr>
        <p:txBody>
          <a:bodyPr wrap="square" anchor="ctr">
            <a:spAutoFit/>
          </a:bodyPr>
          <a:lstStyle/>
          <a:p>
            <a:r>
              <a:rPr sz="2800" b="1" i="0">
                <a:solidFill>
                  <a:srgbClr val="FFFFFF"/>
                </a:solidFill>
                <a:latin typeface="Calibri"/>
              </a:rPr>
              <a:t>Video Module — Preprocessing &amp; Model</a:t>
            </a:r>
          </a:p>
        </p:txBody>
      </p:sp>
      <p:sp>
        <p:nvSpPr>
          <p:cNvPr id="5" name="Rectangle 4"/>
          <p:cNvSpPr/>
          <p:nvPr/>
        </p:nvSpPr>
        <p:spPr>
          <a:xfrm>
            <a:off x="9082735" y="310896"/>
            <a:ext cx="2651760" cy="4572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Member 2 · Vanaiyan</a:t>
            </a:r>
          </a:p>
        </p:txBody>
      </p:sp>
      <p:sp>
        <p:nvSpPr>
          <p:cNvPr id="6" name="Rectangle 5"/>
          <p:cNvSpPr/>
          <p:nvPr/>
        </p:nvSpPr>
        <p:spPr>
          <a:xfrm>
            <a:off x="411480" y="1371600"/>
            <a:ext cx="5486400" cy="5029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371600"/>
            <a:ext cx="5120640" cy="502920"/>
          </a:xfrm>
          <a:prstGeom prst="rect">
            <a:avLst/>
          </a:prstGeom>
          <a:noFill/>
        </p:spPr>
        <p:txBody>
          <a:bodyPr wrap="square" anchor="ctr">
            <a:spAutoFit/>
          </a:bodyPr>
          <a:lstStyle/>
          <a:p>
            <a:r>
              <a:rPr sz="1500" b="1" i="0">
                <a:solidFill>
                  <a:srgbClr val="FFFFFF"/>
                </a:solidFill>
                <a:latin typeface="Calibri"/>
              </a:rPr>
              <a:t>Preprocessing pipeline (built &amp; verified)</a:t>
            </a:r>
          </a:p>
        </p:txBody>
      </p:sp>
      <p:sp>
        <p:nvSpPr>
          <p:cNvPr id="8" name="Rectangle 7"/>
          <p:cNvSpPr/>
          <p:nvPr/>
        </p:nvSpPr>
        <p:spPr>
          <a:xfrm>
            <a:off x="411480" y="1874520"/>
            <a:ext cx="5486400" cy="43434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2029968"/>
            <a:ext cx="5120640" cy="4114800"/>
          </a:xfrm>
          <a:prstGeom prst="rect">
            <a:avLst/>
          </a:prstGeom>
          <a:noFill/>
        </p:spPr>
        <p:txBody>
          <a:bodyPr wrap="square" anchor="t">
            <a:spAutoFit/>
          </a:bodyPr>
          <a:lstStyle/>
          <a:p>
            <a:pPr>
              <a:spcBef>
                <a:spcPts val="0"/>
              </a:spcBef>
              <a:spcAft>
                <a:spcPts val="500"/>
              </a:spcAft>
            </a:pPr>
            <a:r>
              <a:rPr sz="1400" b="1" i="0">
                <a:solidFill>
                  <a:srgbClr val="2A9D8F"/>
                </a:solidFill>
                <a:latin typeface="Calibri"/>
              </a:rPr>
              <a:t>▸ </a:t>
            </a:r>
            <a:r>
              <a:rPr sz="1400" b="0" i="0">
                <a:solidFill>
                  <a:srgbClr val="222A33"/>
                </a:solidFill>
                <a:latin typeface="Calibri"/>
              </a:rPr>
              <a:t>YOLOv8 face detection (+ Haar cascade fallback)</a:t>
            </a:r>
          </a:p>
          <a:p>
            <a:pPr>
              <a:spcBef>
                <a:spcPts val="0"/>
              </a:spcBef>
              <a:spcAft>
                <a:spcPts val="500"/>
              </a:spcAft>
            </a:pPr>
            <a:r>
              <a:rPr sz="1400" b="1" i="0">
                <a:solidFill>
                  <a:srgbClr val="2A9D8F"/>
                </a:solidFill>
                <a:latin typeface="Calibri"/>
              </a:rPr>
              <a:t>▸ </a:t>
            </a:r>
            <a:r>
              <a:rPr sz="1400" b="0" i="0">
                <a:solidFill>
                  <a:srgbClr val="222A33"/>
                </a:solidFill>
                <a:latin typeface="Calibri"/>
              </a:rPr>
              <a:t>Uniform sampling of T=16 frames per clip</a:t>
            </a:r>
          </a:p>
          <a:p>
            <a:pPr>
              <a:spcBef>
                <a:spcPts val="0"/>
              </a:spcBef>
              <a:spcAft>
                <a:spcPts val="500"/>
              </a:spcAft>
            </a:pPr>
            <a:r>
              <a:rPr sz="1400" b="1" i="0">
                <a:solidFill>
                  <a:srgbClr val="2A9D8F"/>
                </a:solidFill>
                <a:latin typeface="Calibri"/>
              </a:rPr>
              <a:t>▸ </a:t>
            </a:r>
            <a:r>
              <a:rPr sz="1400" b="0" i="0">
                <a:solidFill>
                  <a:srgbClr val="222A33"/>
                </a:solidFill>
                <a:latin typeface="Calibri"/>
              </a:rPr>
              <a:t>Crop + pad → resize to 224×224</a:t>
            </a:r>
          </a:p>
          <a:p>
            <a:pPr>
              <a:spcBef>
                <a:spcPts val="0"/>
              </a:spcBef>
              <a:spcAft>
                <a:spcPts val="500"/>
              </a:spcAft>
            </a:pPr>
            <a:r>
              <a:rPr sz="1400" b="1" i="0">
                <a:solidFill>
                  <a:srgbClr val="2A9D8F"/>
                </a:solidFill>
                <a:latin typeface="Calibri"/>
              </a:rPr>
              <a:t>▸ </a:t>
            </a:r>
            <a:r>
              <a:rPr sz="1400" b="0" i="0">
                <a:solidFill>
                  <a:srgbClr val="222A33"/>
                </a:solidFill>
                <a:latin typeface="Calibri"/>
              </a:rPr>
              <a:t>Quality assessment: Laplacian variance (sharpness)</a:t>
            </a:r>
          </a:p>
          <a:p>
            <a:pPr lvl="1">
              <a:spcBef>
                <a:spcPts val="0"/>
              </a:spcBef>
              <a:spcAft>
                <a:spcPts val="500"/>
              </a:spcAft>
            </a:pPr>
            <a:r>
              <a:rPr sz="1200" b="1" i="0">
                <a:solidFill>
                  <a:srgbClr val="E9A84A"/>
                </a:solidFill>
                <a:latin typeface="Calibri"/>
              </a:rPr>
              <a:t>     – </a:t>
            </a:r>
            <a:r>
              <a:rPr sz="1200" b="0" i="0">
                <a:solidFill>
                  <a:srgbClr val="5A636E"/>
                </a:solidFill>
                <a:latin typeface="Calibri"/>
              </a:rPr>
              <a:t>+ face bounding-box area (good/degraded/poor)</a:t>
            </a:r>
          </a:p>
          <a:p>
            <a:pPr>
              <a:spcBef>
                <a:spcPts val="0"/>
              </a:spcBef>
              <a:spcAft>
                <a:spcPts val="500"/>
              </a:spcAft>
            </a:pPr>
            <a:r>
              <a:rPr sz="1400" b="1" i="0">
                <a:solidFill>
                  <a:srgbClr val="2A9D8F"/>
                </a:solidFill>
                <a:latin typeface="Calibri"/>
              </a:rPr>
              <a:t>▸ </a:t>
            </a:r>
            <a:r>
              <a:rPr sz="1400" b="0" i="0">
                <a:solidFill>
                  <a:srgbClr val="222A33"/>
                </a:solidFill>
                <a:latin typeface="Calibri"/>
              </a:rPr>
              <a:t>Verified on all 5 emotion classes locally</a:t>
            </a:r>
          </a:p>
        </p:txBody>
      </p:sp>
      <p:sp>
        <p:nvSpPr>
          <p:cNvPr id="10" name="Rectangle 9"/>
          <p:cNvSpPr/>
          <p:nvPr/>
        </p:nvSpPr>
        <p:spPr>
          <a:xfrm>
            <a:off x="6263640" y="1371600"/>
            <a:ext cx="5486400" cy="50292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371600"/>
            <a:ext cx="5120640" cy="502920"/>
          </a:xfrm>
          <a:prstGeom prst="rect">
            <a:avLst/>
          </a:prstGeom>
          <a:noFill/>
        </p:spPr>
        <p:txBody>
          <a:bodyPr wrap="square" anchor="ctr">
            <a:spAutoFit/>
          </a:bodyPr>
          <a:lstStyle/>
          <a:p>
            <a:r>
              <a:rPr sz="1500" b="1" i="0">
                <a:solidFill>
                  <a:srgbClr val="FFFFFF"/>
                </a:solidFill>
                <a:latin typeface="Calibri"/>
              </a:rPr>
              <a:t>Model: ResNet50 → BiLSTM</a:t>
            </a:r>
          </a:p>
        </p:txBody>
      </p:sp>
      <p:sp>
        <p:nvSpPr>
          <p:cNvPr id="12" name="Rectangle 11"/>
          <p:cNvSpPr/>
          <p:nvPr/>
        </p:nvSpPr>
        <p:spPr>
          <a:xfrm>
            <a:off x="6263640" y="1874520"/>
            <a:ext cx="5486400" cy="43434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2029968"/>
            <a:ext cx="5120640" cy="4114800"/>
          </a:xfrm>
          <a:prstGeom prst="rect">
            <a:avLst/>
          </a:prstGeom>
          <a:noFill/>
        </p:spPr>
        <p:txBody>
          <a:bodyPr wrap="square" anchor="t">
            <a:spAutoFit/>
          </a:bodyPr>
          <a:lstStyle/>
          <a:p>
            <a:pPr>
              <a:spcBef>
                <a:spcPts val="0"/>
              </a:spcBef>
              <a:spcAft>
                <a:spcPts val="500"/>
              </a:spcAft>
            </a:pPr>
            <a:r>
              <a:rPr sz="1400" b="1" i="0">
                <a:solidFill>
                  <a:srgbClr val="2A9D8F"/>
                </a:solidFill>
                <a:latin typeface="Calibri"/>
              </a:rPr>
              <a:t>▸ </a:t>
            </a:r>
            <a:r>
              <a:rPr sz="1400" b="0" i="0">
                <a:solidFill>
                  <a:srgbClr val="222A33"/>
                </a:solidFill>
                <a:latin typeface="Calibri"/>
              </a:rPr>
              <a:t>ResNet50 encoder, partial fine-tune (ImageNet)</a:t>
            </a:r>
          </a:p>
          <a:p>
            <a:pPr lvl="1">
              <a:spcBef>
                <a:spcPts val="0"/>
              </a:spcBef>
              <a:spcAft>
                <a:spcPts val="500"/>
              </a:spcAft>
            </a:pPr>
            <a:r>
              <a:rPr sz="1200" b="1" i="0">
                <a:solidFill>
                  <a:srgbClr val="E9A84A"/>
                </a:solidFill>
                <a:latin typeface="Calibri"/>
              </a:rPr>
              <a:t>     – </a:t>
            </a:r>
            <a:r>
              <a:rPr sz="1200" b="0" i="0">
                <a:solidFill>
                  <a:srgbClr val="5A636E"/>
                </a:solidFill>
                <a:latin typeface="Calibri"/>
              </a:rPr>
              <a:t>2048-d feature per frame</a:t>
            </a:r>
          </a:p>
          <a:p>
            <a:pPr>
              <a:spcBef>
                <a:spcPts val="0"/>
              </a:spcBef>
              <a:spcAft>
                <a:spcPts val="500"/>
              </a:spcAft>
            </a:pPr>
            <a:r>
              <a:rPr sz="1400" b="1" i="0">
                <a:solidFill>
                  <a:srgbClr val="2A9D8F"/>
                </a:solidFill>
                <a:latin typeface="Calibri"/>
              </a:rPr>
              <a:t>▸ </a:t>
            </a:r>
            <a:r>
              <a:rPr sz="1400" b="0" i="0">
                <a:solidFill>
                  <a:srgbClr val="222A33"/>
                </a:solidFill>
                <a:latin typeface="Calibri"/>
              </a:rPr>
              <a:t>2-layer Bidirectional LSTM (temporal modelling)</a:t>
            </a:r>
          </a:p>
          <a:p>
            <a:pPr lvl="1">
              <a:spcBef>
                <a:spcPts val="0"/>
              </a:spcBef>
              <a:spcAft>
                <a:spcPts val="500"/>
              </a:spcAft>
            </a:pPr>
            <a:r>
              <a:rPr sz="1200" b="1" i="0">
                <a:solidFill>
                  <a:srgbClr val="E9A84A"/>
                </a:solidFill>
                <a:latin typeface="Calibri"/>
              </a:rPr>
              <a:t>     – </a:t>
            </a:r>
            <a:r>
              <a:rPr sz="1200" b="0" i="0">
                <a:solidFill>
                  <a:srgbClr val="5A636E"/>
                </a:solidFill>
                <a:latin typeface="Calibri"/>
              </a:rPr>
              <a:t>mean-pooled over 16 frames → 5 logits</a:t>
            </a:r>
          </a:p>
          <a:p>
            <a:pPr>
              <a:spcBef>
                <a:spcPts val="0"/>
              </a:spcBef>
              <a:spcAft>
                <a:spcPts val="500"/>
              </a:spcAft>
            </a:pPr>
            <a:r>
              <a:rPr sz="1400" b="1" i="0">
                <a:solidFill>
                  <a:srgbClr val="2A9D8F"/>
                </a:solidFill>
                <a:latin typeface="Calibri"/>
              </a:rPr>
              <a:t>▸ </a:t>
            </a:r>
            <a:r>
              <a:rPr sz="1400" b="0" i="0">
                <a:solidFill>
                  <a:srgbClr val="222A33"/>
                </a:solidFill>
                <a:latin typeface="Calibri"/>
              </a:rPr>
              <a:t>~30M params · all smoke tests pass (CPU/MPS/CUDA)</a:t>
            </a:r>
          </a:p>
          <a:p>
            <a:pPr>
              <a:spcBef>
                <a:spcPts val="0"/>
              </a:spcBef>
              <a:spcAft>
                <a:spcPts val="500"/>
              </a:spcAft>
            </a:pPr>
            <a:r>
              <a:rPr sz="1400" b="1" i="0">
                <a:solidFill>
                  <a:srgbClr val="2A9D8F"/>
                </a:solidFill>
                <a:latin typeface="Calibri"/>
              </a:rPr>
              <a:t>▸ </a:t>
            </a:r>
            <a:r>
              <a:rPr sz="1400" b="0" i="0">
                <a:solidFill>
                  <a:srgbClr val="222A33"/>
                </a:solidFill>
                <a:latin typeface="Calibri"/>
              </a:rPr>
              <a:t>Actor-independent 5-fold (no actor in train+val)</a:t>
            </a:r>
          </a:p>
        </p:txBody>
      </p:sp>
      <p:sp>
        <p:nvSpPr>
          <p:cNvPr id="14" name="Rectangle 13"/>
          <p:cNvSpPr/>
          <p:nvPr/>
        </p:nvSpPr>
        <p:spPr>
          <a:xfrm>
            <a:off x="0" y="6565392"/>
            <a:ext cx="12191695" cy="292608"/>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6547104"/>
            <a:ext cx="8229600" cy="274320"/>
          </a:xfrm>
          <a:prstGeom prst="rect">
            <a:avLst/>
          </a:prstGeom>
          <a:noFill/>
        </p:spPr>
        <p:txBody>
          <a:bodyPr wrap="square" anchor="ctr">
            <a:spAutoFit/>
          </a:bodyPr>
          <a:lstStyle/>
          <a:p>
            <a:r>
              <a:rPr sz="1000" b="0" i="0">
                <a:solidFill>
                  <a:srgbClr val="FFFFFF"/>
                </a:solidFill>
                <a:latin typeface="Calibri"/>
              </a:rPr>
              <a:t>MedOracle  ·  Interim Review 2026  ·  University of Moratuwa</a:t>
            </a:r>
          </a:p>
        </p:txBody>
      </p:sp>
      <p:sp>
        <p:nvSpPr>
          <p:cNvPr id="16" name="TextBox 15"/>
          <p:cNvSpPr txBox="1"/>
          <p:nvPr/>
        </p:nvSpPr>
        <p:spPr>
          <a:xfrm>
            <a:off x="11094415" y="6547104"/>
            <a:ext cx="731520" cy="274320"/>
          </a:xfrm>
          <a:prstGeom prst="rect">
            <a:avLst/>
          </a:prstGeom>
          <a:noFill/>
        </p:spPr>
        <p:txBody>
          <a:bodyPr wrap="square" anchor="ctr">
            <a:spAutoFit/>
          </a:bodyPr>
          <a:lstStyle/>
          <a:p>
            <a:pPr algn="r"/>
            <a:r>
              <a:rPr sz="1000" b="0" i="0">
                <a:solidFill>
                  <a:srgbClr val="FFFFFF"/>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961120" cy="777240"/>
          </a:xfrm>
          <a:prstGeom prst="rect">
            <a:avLst/>
          </a:prstGeom>
          <a:noFill/>
        </p:spPr>
        <p:txBody>
          <a:bodyPr wrap="square" anchor="ctr">
            <a:spAutoFit/>
          </a:bodyPr>
          <a:lstStyle/>
          <a:p>
            <a:r>
              <a:rPr sz="2800" b="1" i="0">
                <a:solidFill>
                  <a:srgbClr val="FFFFFF"/>
                </a:solidFill>
                <a:latin typeface="Calibri"/>
              </a:rPr>
              <a:t>Quality-Aware Gated Fusion</a:t>
            </a:r>
          </a:p>
        </p:txBody>
      </p:sp>
      <p:sp>
        <p:nvSpPr>
          <p:cNvPr id="5" name="Rectangle 4"/>
          <p:cNvSpPr/>
          <p:nvPr/>
        </p:nvSpPr>
        <p:spPr>
          <a:xfrm>
            <a:off x="9082735" y="310896"/>
            <a:ext cx="2651760" cy="4572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Member 2 · Vanaiyan</a:t>
            </a:r>
          </a:p>
        </p:txBody>
      </p:sp>
      <p:sp>
        <p:nvSpPr>
          <p:cNvPr id="6" name="TextBox 5"/>
          <p:cNvSpPr txBox="1"/>
          <p:nvPr/>
        </p:nvSpPr>
        <p:spPr>
          <a:xfrm>
            <a:off x="548640" y="1371600"/>
            <a:ext cx="11064240" cy="5029200"/>
          </a:xfrm>
          <a:prstGeom prst="rect">
            <a:avLst/>
          </a:prstGeom>
          <a:noFill/>
        </p:spPr>
        <p:txBody>
          <a:bodyPr wrap="square" anchor="t">
            <a:spAutoFit/>
          </a:bodyPr>
          <a:lstStyle/>
          <a:p>
            <a:pPr>
              <a:spcBef>
                <a:spcPts val="0"/>
              </a:spcBef>
              <a:spcAft>
                <a:spcPts val="900"/>
              </a:spcAft>
            </a:pPr>
            <a:r>
              <a:rPr sz="1600" b="1" i="0">
                <a:solidFill>
                  <a:srgbClr val="2A9D8F"/>
                </a:solidFill>
                <a:latin typeface="Calibri"/>
              </a:rPr>
              <a:t>▸ </a:t>
            </a:r>
            <a:r>
              <a:rPr sz="1600" b="0" i="0">
                <a:solidFill>
                  <a:srgbClr val="222A33"/>
                </a:solidFill>
                <a:latin typeface="Calibri"/>
              </a:rPr>
              <a:t>Each modality gets a confidence score from prediction entropy:  c = 1 − H(P)/log K   (Guo et al., 2017).</a:t>
            </a:r>
          </a:p>
          <a:p>
            <a:pPr>
              <a:spcBef>
                <a:spcPts val="0"/>
              </a:spcBef>
              <a:spcAft>
                <a:spcPts val="900"/>
              </a:spcAft>
            </a:pPr>
            <a:r>
              <a:rPr sz="1600" b="1" i="0">
                <a:solidFill>
                  <a:srgbClr val="2A9D8F"/>
                </a:solidFill>
                <a:latin typeface="Calibri"/>
              </a:rPr>
              <a:t>▸ </a:t>
            </a:r>
            <a:r>
              <a:rPr sz="1600" b="0" i="0">
                <a:solidFill>
                  <a:srgbClr val="222A33"/>
                </a:solidFill>
                <a:latin typeface="Calibri"/>
              </a:rPr>
              <a:t>A quality penalty α scales confidence by signal quality:  good = 1.0 · degraded = 0.5 · poor = 0.1.</a:t>
            </a:r>
          </a:p>
          <a:p>
            <a:pPr>
              <a:spcBef>
                <a:spcPts val="0"/>
              </a:spcBef>
              <a:spcAft>
                <a:spcPts val="900"/>
              </a:spcAft>
            </a:pPr>
            <a:r>
              <a:rPr sz="1600" b="1" i="0">
                <a:solidFill>
                  <a:srgbClr val="2A9D8F"/>
                </a:solidFill>
                <a:latin typeface="Calibri"/>
              </a:rPr>
              <a:t>▸ </a:t>
            </a:r>
            <a:r>
              <a:rPr sz="1600" b="0" i="0">
                <a:solidFill>
                  <a:srgbClr val="222A33"/>
                </a:solidFill>
                <a:latin typeface="Calibri"/>
              </a:rPr>
              <a:t>Gate score per modality:  g = c × α.   Weights via L1 normalisation:  w = g / Σ g.</a:t>
            </a:r>
          </a:p>
          <a:p>
            <a:pPr lvl="1">
              <a:spcBef>
                <a:spcPts val="0"/>
              </a:spcBef>
              <a:spcAft>
                <a:spcPts val="900"/>
              </a:spcAft>
            </a:pPr>
            <a:r>
              <a:rPr sz="1400" b="1" i="0">
                <a:solidFill>
                  <a:srgbClr val="E9A84A"/>
                </a:solidFill>
                <a:latin typeface="Calibri"/>
              </a:rPr>
              <a:t>     – </a:t>
            </a:r>
            <a:r>
              <a:rPr sz="1400" b="0" i="0">
                <a:solidFill>
                  <a:srgbClr val="5A636E"/>
                </a:solidFill>
                <a:latin typeface="Calibri"/>
              </a:rPr>
              <a:t>L1 (not softmax) preserves large confidence gaps between modalities.</a:t>
            </a:r>
          </a:p>
          <a:p>
            <a:pPr>
              <a:spcBef>
                <a:spcPts val="0"/>
              </a:spcBef>
              <a:spcAft>
                <a:spcPts val="900"/>
              </a:spcAft>
            </a:pPr>
            <a:r>
              <a:rPr sz="1600" b="1" i="0">
                <a:solidFill>
                  <a:srgbClr val="2A9D8F"/>
                </a:solidFill>
                <a:latin typeface="Calibri"/>
              </a:rPr>
              <a:t>▸ </a:t>
            </a:r>
            <a:r>
              <a:rPr sz="1600" b="0" i="0">
                <a:solidFill>
                  <a:srgbClr val="222A33"/>
                </a:solidFill>
                <a:latin typeface="Calibri"/>
              </a:rPr>
              <a:t>Fused prediction:  P_fused = Σ w·P  →  argmax = final emotion.</a:t>
            </a:r>
          </a:p>
          <a:p>
            <a:pPr>
              <a:spcBef>
                <a:spcPts val="0"/>
              </a:spcBef>
              <a:spcAft>
                <a:spcPts val="900"/>
              </a:spcAft>
            </a:pPr>
            <a:r>
              <a:rPr sz="1600" b="1" i="0">
                <a:solidFill>
                  <a:srgbClr val="2A9D8F"/>
                </a:solidFill>
                <a:latin typeface="Calibri"/>
              </a:rPr>
              <a:t>▸ </a:t>
            </a:r>
            <a:r>
              <a:rPr sz="1600" b="0" i="0">
                <a:solidFill>
                  <a:srgbClr val="222A33"/>
                </a:solidFill>
                <a:latin typeface="Calibri"/>
              </a:rPr>
              <a:t>Graceful degradation:</a:t>
            </a:r>
          </a:p>
          <a:p>
            <a:pPr lvl="1">
              <a:spcBef>
                <a:spcPts val="0"/>
              </a:spcBef>
              <a:spcAft>
                <a:spcPts val="900"/>
              </a:spcAft>
            </a:pPr>
            <a:r>
              <a:rPr sz="1400" b="1" i="0">
                <a:solidFill>
                  <a:srgbClr val="E9A84A"/>
                </a:solidFill>
                <a:latin typeface="Calibri"/>
              </a:rPr>
              <a:t>     – </a:t>
            </a:r>
            <a:r>
              <a:rPr sz="1400" b="0" i="0">
                <a:solidFill>
                  <a:srgbClr val="5A636E"/>
                </a:solidFill>
                <a:latin typeface="Calibri"/>
              </a:rPr>
              <a:t>Video poor/missing → rely on physiological;  physiological poor/missing → rely on video</a:t>
            </a:r>
          </a:p>
          <a:p>
            <a:pPr lvl="1">
              <a:spcBef>
                <a:spcPts val="0"/>
              </a:spcBef>
              <a:spcAft>
                <a:spcPts val="900"/>
              </a:spcAft>
            </a:pPr>
            <a:r>
              <a:rPr sz="1400" b="1" i="0">
                <a:solidFill>
                  <a:srgbClr val="E9A84A"/>
                </a:solidFill>
                <a:latin typeface="Calibri"/>
              </a:rPr>
              <a:t>     – </a:t>
            </a:r>
            <a:r>
              <a:rPr sz="1400" b="0" i="0">
                <a:solidFill>
                  <a:srgbClr val="5A636E"/>
                </a:solidFill>
                <a:latin typeface="Calibri"/>
              </a:rPr>
              <a:t>Both poor → uniform distribution, flagged unreliable</a:t>
            </a:r>
          </a:p>
        </p:txBody>
      </p:sp>
      <p:sp>
        <p:nvSpPr>
          <p:cNvPr id="7" name="Rectangle 6"/>
          <p:cNvSpPr/>
          <p:nvPr/>
        </p:nvSpPr>
        <p:spPr>
          <a:xfrm>
            <a:off x="0" y="6565392"/>
            <a:ext cx="12191695" cy="292608"/>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547104"/>
            <a:ext cx="8229600" cy="274320"/>
          </a:xfrm>
          <a:prstGeom prst="rect">
            <a:avLst/>
          </a:prstGeom>
          <a:noFill/>
        </p:spPr>
        <p:txBody>
          <a:bodyPr wrap="square" anchor="ctr">
            <a:spAutoFit/>
          </a:bodyPr>
          <a:lstStyle/>
          <a:p>
            <a:r>
              <a:rPr sz="1000" b="0" i="0">
                <a:solidFill>
                  <a:srgbClr val="FFFFFF"/>
                </a:solidFill>
                <a:latin typeface="Calibri"/>
              </a:rPr>
              <a:t>MedOracle  ·  Interim Review 2026  ·  University of Moratuwa</a:t>
            </a:r>
          </a:p>
        </p:txBody>
      </p:sp>
      <p:sp>
        <p:nvSpPr>
          <p:cNvPr id="9" name="TextBox 8"/>
          <p:cNvSpPr txBox="1"/>
          <p:nvPr/>
        </p:nvSpPr>
        <p:spPr>
          <a:xfrm>
            <a:off x="11094415" y="6547104"/>
            <a:ext cx="731520" cy="274320"/>
          </a:xfrm>
          <a:prstGeom prst="rect">
            <a:avLst/>
          </a:prstGeom>
          <a:noFill/>
        </p:spPr>
        <p:txBody>
          <a:bodyPr wrap="square" anchor="ctr">
            <a:spAutoFit/>
          </a:bodyPr>
          <a:lstStyle/>
          <a:p>
            <a:pPr algn="r"/>
            <a:r>
              <a:rPr sz="1000" b="0" i="0">
                <a:solidFill>
                  <a:srgbClr val="FFFFFF"/>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961120" cy="777240"/>
          </a:xfrm>
          <a:prstGeom prst="rect">
            <a:avLst/>
          </a:prstGeom>
          <a:noFill/>
        </p:spPr>
        <p:txBody>
          <a:bodyPr wrap="square" anchor="ctr">
            <a:spAutoFit/>
          </a:bodyPr>
          <a:lstStyle/>
          <a:p>
            <a:r>
              <a:rPr sz="2800" b="1" i="0">
                <a:solidFill>
                  <a:srgbClr val="FFFFFF"/>
                </a:solidFill>
                <a:latin typeface="Calibri"/>
              </a:rPr>
              <a:t>Video Model — Preliminary Results</a:t>
            </a:r>
          </a:p>
        </p:txBody>
      </p:sp>
      <p:sp>
        <p:nvSpPr>
          <p:cNvPr id="5" name="Rectangle 4"/>
          <p:cNvSpPr/>
          <p:nvPr/>
        </p:nvSpPr>
        <p:spPr>
          <a:xfrm>
            <a:off x="9082735" y="310896"/>
            <a:ext cx="2651760" cy="4572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Member 2 · Vanaiyan</a:t>
            </a:r>
          </a:p>
        </p:txBody>
      </p:sp>
      <p:graphicFrame>
        <p:nvGraphicFramePr>
          <p:cNvPr id="6" name="Table 5"/>
          <p:cNvGraphicFramePr>
            <a:graphicFrameLocks noGrp="1"/>
          </p:cNvGraphicFramePr>
          <p:nvPr>
            <p:extLst>
              <p:ext uri="{D42A27DB-BD31-4B8C-83A1-F6EECF244321}">
                <p14:modId xmlns:p14="http://schemas.microsoft.com/office/powerpoint/2010/main" val="3371473613"/>
              </p:ext>
            </p:extLst>
          </p:nvPr>
        </p:nvGraphicFramePr>
        <p:xfrm>
          <a:off x="457200" y="1371600"/>
          <a:ext cx="6400800" cy="1901952"/>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75488">
                <a:tc>
                  <a:txBody>
                    <a:bodyPr/>
                    <a:lstStyle/>
                    <a:p>
                      <a:r>
                        <a:rPr sz="1300" b="1" i="0">
                          <a:solidFill>
                            <a:srgbClr val="FFFFFF"/>
                          </a:solidFill>
                          <a:latin typeface="Calibri"/>
                        </a:rPr>
                        <a:t>Run</a:t>
                      </a:r>
                    </a:p>
                  </a:txBody>
                  <a:tcPr>
                    <a:solidFill>
                      <a:srgbClr val="1F3B5B"/>
                    </a:solidFill>
                  </a:tcPr>
                </a:tc>
                <a:tc>
                  <a:txBody>
                    <a:bodyPr/>
                    <a:lstStyle/>
                    <a:p>
                      <a:r>
                        <a:rPr sz="1300" b="1" i="0">
                          <a:solidFill>
                            <a:srgbClr val="FFFFFF"/>
                          </a:solidFill>
                          <a:latin typeface="Calibri"/>
                        </a:rPr>
                        <a:t>Setup</a:t>
                      </a:r>
                    </a:p>
                  </a:txBody>
                  <a:tcPr>
                    <a:solidFill>
                      <a:srgbClr val="1F3B5B"/>
                    </a:solidFill>
                  </a:tcPr>
                </a:tc>
                <a:tc>
                  <a:txBody>
                    <a:bodyPr/>
                    <a:lstStyle/>
                    <a:p>
                      <a:r>
                        <a:rPr sz="1300" b="1" i="0">
                          <a:solidFill>
                            <a:srgbClr val="FFFFFF"/>
                          </a:solidFill>
                          <a:latin typeface="Calibri"/>
                        </a:rPr>
                        <a:t>Val macro-F1</a:t>
                      </a:r>
                    </a:p>
                  </a:txBody>
                  <a:tcPr>
                    <a:solidFill>
                      <a:srgbClr val="1F3B5B"/>
                    </a:solidFill>
                  </a:tcPr>
                </a:tc>
                <a:extLst>
                  <a:ext uri="{0D108BD9-81ED-4DB2-BD59-A6C34878D82A}">
                    <a16:rowId xmlns:a16="http://schemas.microsoft.com/office/drawing/2014/main" val="10000"/>
                  </a:ext>
                </a:extLst>
              </a:tr>
              <a:tr h="475488">
                <a:tc>
                  <a:txBody>
                    <a:bodyPr/>
                    <a:lstStyle/>
                    <a:p>
                      <a:r>
                        <a:rPr sz="1200" b="0" i="0">
                          <a:solidFill>
                            <a:srgbClr val="222A33"/>
                          </a:solidFill>
                          <a:latin typeface="Calibri"/>
                        </a:rPr>
                        <a:t>v1 baseline</a:t>
                      </a:r>
                    </a:p>
                  </a:txBody>
                  <a:tcPr>
                    <a:solidFill>
                      <a:srgbClr val="FFFFFF"/>
                    </a:solidFill>
                  </a:tcPr>
                </a:tc>
                <a:tc>
                  <a:txBody>
                    <a:bodyPr/>
                    <a:lstStyle/>
                    <a:p>
                      <a:r>
                        <a:rPr sz="1200" b="0" i="0">
                          <a:solidFill>
                            <a:srgbClr val="222A33"/>
                          </a:solidFill>
                          <a:latin typeface="Calibri"/>
                        </a:rPr>
                        <a:t>CREMA-D only</a:t>
                      </a:r>
                    </a:p>
                  </a:txBody>
                  <a:tcPr>
                    <a:solidFill>
                      <a:srgbClr val="FFFFFF"/>
                    </a:solidFill>
                  </a:tcPr>
                </a:tc>
                <a:tc>
                  <a:txBody>
                    <a:bodyPr/>
                    <a:lstStyle/>
                    <a:p>
                      <a:r>
                        <a:rPr sz="1200" b="0" i="0">
                          <a:solidFill>
                            <a:srgbClr val="1F3B5B"/>
                          </a:solidFill>
                          <a:latin typeface="Calibri"/>
                        </a:rPr>
                        <a:t>0.640</a:t>
                      </a:r>
                    </a:p>
                  </a:txBody>
                  <a:tcPr>
                    <a:solidFill>
                      <a:srgbClr val="FFFFFF"/>
                    </a:solidFill>
                  </a:tcPr>
                </a:tc>
                <a:extLst>
                  <a:ext uri="{0D108BD9-81ED-4DB2-BD59-A6C34878D82A}">
                    <a16:rowId xmlns:a16="http://schemas.microsoft.com/office/drawing/2014/main" val="10001"/>
                  </a:ext>
                </a:extLst>
              </a:tr>
              <a:tr h="475488">
                <a:tc>
                  <a:txBody>
                    <a:bodyPr/>
                    <a:lstStyle/>
                    <a:p>
                      <a:r>
                        <a:rPr sz="1200" b="0" i="0">
                          <a:solidFill>
                            <a:srgbClr val="222A33"/>
                          </a:solidFill>
                          <a:latin typeface="Calibri"/>
                        </a:rPr>
                        <a:t>v3.1  Fold 1</a:t>
                      </a:r>
                    </a:p>
                  </a:txBody>
                  <a:tcPr>
                    <a:solidFill>
                      <a:srgbClr val="F4F6F8"/>
                    </a:solidFill>
                  </a:tcPr>
                </a:tc>
                <a:tc>
                  <a:txBody>
                    <a:bodyPr/>
                    <a:lstStyle/>
                    <a:p>
                      <a:r>
                        <a:rPr sz="1200" b="0" i="0">
                          <a:solidFill>
                            <a:srgbClr val="222A33"/>
                          </a:solidFill>
                          <a:latin typeface="Calibri"/>
                        </a:rPr>
                        <a:t>CREMA-D + RAVDESS, anti-overfit</a:t>
                      </a:r>
                    </a:p>
                  </a:txBody>
                  <a:tcPr>
                    <a:solidFill>
                      <a:srgbClr val="F4F6F8"/>
                    </a:solidFill>
                  </a:tcPr>
                </a:tc>
                <a:tc>
                  <a:txBody>
                    <a:bodyPr/>
                    <a:lstStyle/>
                    <a:p>
                      <a:r>
                        <a:rPr sz="1200" b="1" i="0">
                          <a:solidFill>
                            <a:srgbClr val="1F3B5B"/>
                          </a:solidFill>
                          <a:latin typeface="Calibri"/>
                        </a:rPr>
                        <a:t>0.605</a:t>
                      </a:r>
                    </a:p>
                  </a:txBody>
                  <a:tcPr>
                    <a:solidFill>
                      <a:srgbClr val="F4F6F8"/>
                    </a:solidFill>
                  </a:tcPr>
                </a:tc>
                <a:extLst>
                  <a:ext uri="{0D108BD9-81ED-4DB2-BD59-A6C34878D82A}">
                    <a16:rowId xmlns:a16="http://schemas.microsoft.com/office/drawing/2014/main" val="10002"/>
                  </a:ext>
                </a:extLst>
              </a:tr>
              <a:tr h="475488">
                <a:tc>
                  <a:txBody>
                    <a:bodyPr/>
                    <a:lstStyle/>
                    <a:p>
                      <a:r>
                        <a:rPr sz="1200" b="0" i="0" dirty="0">
                          <a:solidFill>
                            <a:srgbClr val="222A33"/>
                          </a:solidFill>
                          <a:latin typeface="Calibri"/>
                        </a:rPr>
                        <a:t>v3.1  </a:t>
                      </a:r>
                      <a:r>
                        <a:rPr lang="en-US" sz="1200" b="0" i="0" dirty="0">
                          <a:solidFill>
                            <a:srgbClr val="222A33"/>
                          </a:solidFill>
                          <a:latin typeface="Calibri"/>
                        </a:rPr>
                        <a:t> 5 - </a:t>
                      </a:r>
                      <a:r>
                        <a:rPr sz="1200" b="0" i="0" dirty="0">
                          <a:solidFill>
                            <a:srgbClr val="222A33"/>
                          </a:solidFill>
                          <a:latin typeface="Calibri"/>
                        </a:rPr>
                        <a:t>Fold</a:t>
                      </a:r>
                    </a:p>
                  </a:txBody>
                  <a:tcPr>
                    <a:solidFill>
                      <a:srgbClr val="FFFFFF"/>
                    </a:solidFill>
                  </a:tcPr>
                </a:tc>
                <a:tc>
                  <a:txBody>
                    <a:bodyPr/>
                    <a:lstStyle/>
                    <a:p>
                      <a:r>
                        <a:rPr sz="1200" b="0" i="0">
                          <a:solidFill>
                            <a:srgbClr val="222A33"/>
                          </a:solidFill>
                          <a:latin typeface="Calibri"/>
                        </a:rPr>
                        <a:t>CREMA-D + RAVDESS, anti-overfit</a:t>
                      </a:r>
                    </a:p>
                  </a:txBody>
                  <a:tcPr>
                    <a:solidFill>
                      <a:srgbClr val="FFFFFF"/>
                    </a:solidFill>
                  </a:tcPr>
                </a:tc>
                <a:tc>
                  <a:txBody>
                    <a:bodyPr/>
                    <a:lstStyle/>
                    <a:p>
                      <a:r>
                        <a:rPr sz="1200" b="1" i="0" dirty="0">
                          <a:solidFill>
                            <a:srgbClr val="1F3B5B"/>
                          </a:solidFill>
                          <a:latin typeface="Calibri"/>
                        </a:rPr>
                        <a:t>0.6</a:t>
                      </a:r>
                      <a:r>
                        <a:rPr lang="en-US" sz="1200" b="1" i="0" dirty="0">
                          <a:solidFill>
                            <a:srgbClr val="1F3B5B"/>
                          </a:solidFill>
                          <a:latin typeface="Calibri"/>
                        </a:rPr>
                        <a:t>8</a:t>
                      </a:r>
                      <a:r>
                        <a:rPr sz="1200" b="1" i="0" dirty="0">
                          <a:solidFill>
                            <a:srgbClr val="1F3B5B"/>
                          </a:solidFill>
                          <a:latin typeface="Calibri"/>
                        </a:rPr>
                        <a:t>3</a:t>
                      </a:r>
                      <a:r>
                        <a:rPr lang="en-US" sz="1200" b="1" i="0" dirty="0">
                          <a:solidFill>
                            <a:srgbClr val="1F3B5B"/>
                          </a:solidFill>
                          <a:latin typeface="Calibri"/>
                        </a:rPr>
                        <a:t>(Fold 2)</a:t>
                      </a:r>
                      <a:endParaRPr sz="1200" b="1" i="0" dirty="0">
                        <a:solidFill>
                          <a:srgbClr val="1F3B5B"/>
                        </a:solidFill>
                        <a:latin typeface="Calibri"/>
                      </a:endParaRPr>
                    </a:p>
                  </a:txBody>
                  <a:tcP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7132320" y="1371600"/>
            <a:ext cx="4846320" cy="4572000"/>
          </a:xfrm>
          <a:prstGeom prst="rect">
            <a:avLst/>
          </a:prstGeom>
          <a:noFill/>
        </p:spPr>
        <p:txBody>
          <a:bodyPr wrap="square" anchor="t">
            <a:spAutoFit/>
          </a:bodyPr>
          <a:lstStyle/>
          <a:p>
            <a:pPr>
              <a:spcBef>
                <a:spcPts val="0"/>
              </a:spcBef>
              <a:spcAft>
                <a:spcPts val="700"/>
              </a:spcAft>
            </a:pPr>
            <a:r>
              <a:rPr sz="1400" b="1" i="0" dirty="0">
                <a:solidFill>
                  <a:srgbClr val="2A9D8F"/>
                </a:solidFill>
                <a:latin typeface="Calibri"/>
              </a:rPr>
              <a:t>▸ </a:t>
            </a:r>
            <a:r>
              <a:rPr sz="1400" b="0" i="0" dirty="0">
                <a:solidFill>
                  <a:srgbClr val="222A33"/>
                </a:solidFill>
                <a:latin typeface="Calibri"/>
              </a:rPr>
              <a:t>Diagnosed over-fitting (</a:t>
            </a:r>
            <a:r>
              <a:rPr sz="1400" b="0" i="0" dirty="0" err="1">
                <a:solidFill>
                  <a:srgbClr val="222A33"/>
                </a:solidFill>
                <a:latin typeface="Calibri"/>
              </a:rPr>
              <a:t>train≫val</a:t>
            </a:r>
            <a:r>
              <a:rPr sz="1400" b="0" i="0" dirty="0">
                <a:solidFill>
                  <a:srgbClr val="222A33"/>
                </a:solidFill>
                <a:latin typeface="Calibri"/>
              </a:rPr>
              <a:t>) — model was </a:t>
            </a:r>
            <a:r>
              <a:rPr sz="1400" b="0" i="0" dirty="0" err="1">
                <a:solidFill>
                  <a:srgbClr val="222A33"/>
                </a:solidFill>
                <a:latin typeface="Calibri"/>
              </a:rPr>
              <a:t>memorising</a:t>
            </a:r>
            <a:r>
              <a:rPr sz="1400" b="0" i="0" dirty="0">
                <a:solidFill>
                  <a:srgbClr val="222A33"/>
                </a:solidFill>
                <a:latin typeface="Calibri"/>
              </a:rPr>
              <a:t> actor identity.</a:t>
            </a:r>
          </a:p>
          <a:p>
            <a:pPr>
              <a:spcBef>
                <a:spcPts val="0"/>
              </a:spcBef>
              <a:spcAft>
                <a:spcPts val="700"/>
              </a:spcAft>
            </a:pPr>
            <a:r>
              <a:rPr sz="1400" b="1" i="0" dirty="0">
                <a:solidFill>
                  <a:srgbClr val="2A9D8F"/>
                </a:solidFill>
                <a:latin typeface="Calibri"/>
              </a:rPr>
              <a:t>▸ </a:t>
            </a:r>
            <a:r>
              <a:rPr sz="1400" b="0" i="0" dirty="0">
                <a:solidFill>
                  <a:srgbClr val="222A33"/>
                </a:solidFill>
                <a:latin typeface="Calibri"/>
              </a:rPr>
              <a:t>Fixes applied:</a:t>
            </a:r>
          </a:p>
          <a:p>
            <a:pPr lvl="1">
              <a:spcBef>
                <a:spcPts val="0"/>
              </a:spcBef>
              <a:spcAft>
                <a:spcPts val="700"/>
              </a:spcAft>
            </a:pPr>
            <a:r>
              <a:rPr sz="1200" b="1" i="0" dirty="0">
                <a:solidFill>
                  <a:srgbClr val="E9A84A"/>
                </a:solidFill>
                <a:latin typeface="Calibri"/>
              </a:rPr>
              <a:t>     – </a:t>
            </a:r>
            <a:r>
              <a:rPr sz="1200" b="0" i="0" dirty="0">
                <a:solidFill>
                  <a:srgbClr val="5A636E"/>
                </a:solidFill>
                <a:latin typeface="Calibri"/>
              </a:rPr>
              <a:t>Frozen-</a:t>
            </a:r>
            <a:r>
              <a:rPr sz="1200" b="0" i="0" dirty="0" err="1">
                <a:solidFill>
                  <a:srgbClr val="5A636E"/>
                </a:solidFill>
                <a:latin typeface="Calibri"/>
              </a:rPr>
              <a:t>BatchNorm</a:t>
            </a:r>
            <a:r>
              <a:rPr sz="1200" b="0" i="0" dirty="0">
                <a:solidFill>
                  <a:srgbClr val="5A636E"/>
                </a:solidFill>
                <a:latin typeface="Calibri"/>
              </a:rPr>
              <a:t> + discriminative LR (layer4 @1e-5, head @5e-4)</a:t>
            </a:r>
          </a:p>
          <a:p>
            <a:pPr lvl="1">
              <a:spcBef>
                <a:spcPts val="0"/>
              </a:spcBef>
              <a:spcAft>
                <a:spcPts val="700"/>
              </a:spcAft>
            </a:pPr>
            <a:r>
              <a:rPr sz="1200" b="1" i="0" dirty="0">
                <a:solidFill>
                  <a:srgbClr val="E9A84A"/>
                </a:solidFill>
                <a:latin typeface="Calibri"/>
              </a:rPr>
              <a:t>     – </a:t>
            </a:r>
            <a:r>
              <a:rPr sz="1200" b="0" i="0" dirty="0">
                <a:solidFill>
                  <a:srgbClr val="5A636E"/>
                </a:solidFill>
                <a:latin typeface="Calibri"/>
              </a:rPr>
              <a:t>Cutout augmentation · </a:t>
            </a:r>
            <a:r>
              <a:rPr sz="1200" b="0" i="0" dirty="0" err="1">
                <a:solidFill>
                  <a:srgbClr val="5A636E"/>
                </a:solidFill>
                <a:latin typeface="Calibri"/>
              </a:rPr>
              <a:t>BiLSTM</a:t>
            </a:r>
            <a:r>
              <a:rPr sz="1200" b="0" i="0" dirty="0">
                <a:solidFill>
                  <a:srgbClr val="5A636E"/>
                </a:solidFill>
                <a:latin typeface="Calibri"/>
              </a:rPr>
              <a:t> mean-pooling · </a:t>
            </a:r>
            <a:r>
              <a:rPr sz="1200" b="0" i="0" dirty="0" err="1">
                <a:solidFill>
                  <a:srgbClr val="5A636E"/>
                </a:solidFill>
                <a:latin typeface="Calibri"/>
              </a:rPr>
              <a:t>StratifiedGroupKFold</a:t>
            </a:r>
            <a:endParaRPr sz="1200" b="0" i="0" dirty="0">
              <a:solidFill>
                <a:srgbClr val="5A636E"/>
              </a:solidFill>
              <a:latin typeface="Calibri"/>
            </a:endParaRPr>
          </a:p>
          <a:p>
            <a:pPr>
              <a:spcBef>
                <a:spcPts val="0"/>
              </a:spcBef>
              <a:spcAft>
                <a:spcPts val="700"/>
              </a:spcAft>
            </a:pPr>
            <a:r>
              <a:rPr sz="1400" b="1" i="0" dirty="0">
                <a:solidFill>
                  <a:srgbClr val="2A9D8F"/>
                </a:solidFill>
                <a:latin typeface="Calibri"/>
              </a:rPr>
              <a:t>▸ </a:t>
            </a:r>
            <a:r>
              <a:rPr sz="1400" b="0" i="0" dirty="0">
                <a:solidFill>
                  <a:srgbClr val="222A33"/>
                </a:solidFill>
                <a:latin typeface="Calibri"/>
              </a:rPr>
              <a:t>Train/</a:t>
            </a:r>
            <a:r>
              <a:rPr sz="1400" b="0" i="0" dirty="0" err="1">
                <a:solidFill>
                  <a:srgbClr val="222A33"/>
                </a:solidFill>
                <a:latin typeface="Calibri"/>
              </a:rPr>
              <a:t>val</a:t>
            </a:r>
            <a:r>
              <a:rPr sz="1400" b="0" i="0" dirty="0">
                <a:solidFill>
                  <a:srgbClr val="222A33"/>
                </a:solidFill>
                <a:latin typeface="Calibri"/>
              </a:rPr>
              <a:t> gap now small &amp; stable — healthy </a:t>
            </a:r>
            <a:r>
              <a:rPr sz="1400" b="0" i="0" dirty="0" err="1">
                <a:solidFill>
                  <a:srgbClr val="222A33"/>
                </a:solidFill>
                <a:latin typeface="Calibri"/>
              </a:rPr>
              <a:t>generalisation</a:t>
            </a:r>
            <a:r>
              <a:rPr sz="1400" b="0" i="0" dirty="0">
                <a:solidFill>
                  <a:srgbClr val="222A33"/>
                </a:solidFill>
                <a:latin typeface="Calibri"/>
              </a:rPr>
              <a:t>.</a:t>
            </a:r>
          </a:p>
          <a:p>
            <a:pPr>
              <a:spcBef>
                <a:spcPts val="0"/>
              </a:spcBef>
              <a:spcAft>
                <a:spcPts val="700"/>
              </a:spcAft>
            </a:pPr>
            <a:r>
              <a:rPr sz="1400" b="1" i="0" dirty="0">
                <a:solidFill>
                  <a:srgbClr val="2A9D8F"/>
                </a:solidFill>
                <a:latin typeface="Calibri"/>
              </a:rPr>
              <a:t>▸ </a:t>
            </a:r>
            <a:r>
              <a:rPr sz="1400" b="0" i="0" dirty="0">
                <a:solidFill>
                  <a:srgbClr val="222A33"/>
                </a:solidFill>
                <a:latin typeface="Calibri"/>
              </a:rPr>
              <a:t>Strong per-class: happy 0.80, angry 0.70;  fusion should lift sad/stress.</a:t>
            </a:r>
          </a:p>
        </p:txBody>
      </p:sp>
      <p:sp>
        <p:nvSpPr>
          <p:cNvPr id="8" name="Rectangle 7"/>
          <p:cNvSpPr/>
          <p:nvPr/>
        </p:nvSpPr>
        <p:spPr>
          <a:xfrm>
            <a:off x="0" y="6565392"/>
            <a:ext cx="12191695" cy="292608"/>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6547104"/>
            <a:ext cx="8229600" cy="274320"/>
          </a:xfrm>
          <a:prstGeom prst="rect">
            <a:avLst/>
          </a:prstGeom>
          <a:noFill/>
        </p:spPr>
        <p:txBody>
          <a:bodyPr wrap="square" anchor="ctr">
            <a:spAutoFit/>
          </a:bodyPr>
          <a:lstStyle/>
          <a:p>
            <a:r>
              <a:rPr sz="1000" b="0" i="0">
                <a:solidFill>
                  <a:srgbClr val="FFFFFF"/>
                </a:solidFill>
                <a:latin typeface="Calibri"/>
              </a:rPr>
              <a:t>MedOracle  ·  Interim Review 2026  ·  University of Moratuwa</a:t>
            </a:r>
          </a:p>
        </p:txBody>
      </p:sp>
      <p:sp>
        <p:nvSpPr>
          <p:cNvPr id="10" name="TextBox 9"/>
          <p:cNvSpPr txBox="1"/>
          <p:nvPr/>
        </p:nvSpPr>
        <p:spPr>
          <a:xfrm>
            <a:off x="11094415" y="6547104"/>
            <a:ext cx="731520" cy="274320"/>
          </a:xfrm>
          <a:prstGeom prst="rect">
            <a:avLst/>
          </a:prstGeom>
          <a:noFill/>
        </p:spPr>
        <p:txBody>
          <a:bodyPr wrap="square" anchor="ctr">
            <a:spAutoFit/>
          </a:bodyPr>
          <a:lstStyle/>
          <a:p>
            <a:pPr algn="r"/>
            <a:r>
              <a:rPr sz="1000" b="0" i="0">
                <a:solidFill>
                  <a:srgbClr val="FFFFFF"/>
                </a:solidFill>
                <a:latin typeface="Calibri"/>
              </a:rPr>
              <a:t>10</a:t>
            </a:r>
          </a:p>
        </p:txBody>
      </p:sp>
      <p:pic>
        <p:nvPicPr>
          <p:cNvPr id="12" name="Picture 11" descr="A graph with blue and orange bars&#10;&#10;AI-generated content may be incorrect.">
            <a:extLst>
              <a:ext uri="{FF2B5EF4-FFF2-40B4-BE49-F238E27FC236}">
                <a16:creationId xmlns:a16="http://schemas.microsoft.com/office/drawing/2014/main" id="{CD1FB5EA-B8DF-7333-E33F-1FDFACDBD8C6}"/>
              </a:ext>
            </a:extLst>
          </p:cNvPr>
          <p:cNvPicPr>
            <a:picLocks noChangeAspect="1"/>
          </p:cNvPicPr>
          <p:nvPr/>
        </p:nvPicPr>
        <p:blipFill>
          <a:blip r:embed="rId3"/>
          <a:stretch>
            <a:fillRect/>
          </a:stretch>
        </p:blipFill>
        <p:spPr>
          <a:xfrm>
            <a:off x="213360" y="4054221"/>
            <a:ext cx="7772400" cy="24288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961120" cy="777240"/>
          </a:xfrm>
          <a:prstGeom prst="rect">
            <a:avLst/>
          </a:prstGeom>
          <a:noFill/>
        </p:spPr>
        <p:txBody>
          <a:bodyPr wrap="square" anchor="ctr">
            <a:spAutoFit/>
          </a:bodyPr>
          <a:lstStyle/>
          <a:p>
            <a:r>
              <a:rPr sz="2800" b="1" i="0">
                <a:solidFill>
                  <a:srgbClr val="FFFFFF"/>
                </a:solidFill>
                <a:latin typeface="Calibri"/>
              </a:rPr>
              <a:t>Explainability Layer — Kernel SHAP</a:t>
            </a:r>
          </a:p>
        </p:txBody>
      </p:sp>
      <p:sp>
        <p:nvSpPr>
          <p:cNvPr id="5" name="Rectangle 4"/>
          <p:cNvSpPr/>
          <p:nvPr/>
        </p:nvSpPr>
        <p:spPr>
          <a:xfrm>
            <a:off x="9082735" y="310896"/>
            <a:ext cx="2651760" cy="45720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Member 3 · Adshaya</a:t>
            </a:r>
          </a:p>
        </p:txBody>
      </p:sp>
      <p:sp>
        <p:nvSpPr>
          <p:cNvPr id="7" name="Rectangle 6"/>
          <p:cNvSpPr/>
          <p:nvPr/>
        </p:nvSpPr>
        <p:spPr>
          <a:xfrm>
            <a:off x="0" y="6565392"/>
            <a:ext cx="12191695" cy="292608"/>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547104"/>
            <a:ext cx="8229600" cy="274320"/>
          </a:xfrm>
          <a:prstGeom prst="rect">
            <a:avLst/>
          </a:prstGeom>
          <a:noFill/>
        </p:spPr>
        <p:txBody>
          <a:bodyPr wrap="square" anchor="ctr">
            <a:spAutoFit/>
          </a:bodyPr>
          <a:lstStyle/>
          <a:p>
            <a:r>
              <a:rPr sz="1000" b="0" i="0">
                <a:solidFill>
                  <a:srgbClr val="FFFFFF"/>
                </a:solidFill>
                <a:latin typeface="Calibri"/>
              </a:rPr>
              <a:t>MedOracle  ·  Interim Review 2026  ·  University of Moratuwa</a:t>
            </a:r>
          </a:p>
        </p:txBody>
      </p:sp>
      <p:sp>
        <p:nvSpPr>
          <p:cNvPr id="9" name="TextBox 8"/>
          <p:cNvSpPr txBox="1"/>
          <p:nvPr/>
        </p:nvSpPr>
        <p:spPr>
          <a:xfrm>
            <a:off x="11094415" y="6547104"/>
            <a:ext cx="731520" cy="274320"/>
          </a:xfrm>
          <a:prstGeom prst="rect">
            <a:avLst/>
          </a:prstGeom>
          <a:noFill/>
        </p:spPr>
        <p:txBody>
          <a:bodyPr wrap="square" anchor="ctr">
            <a:spAutoFit/>
          </a:bodyPr>
          <a:lstStyle/>
          <a:p>
            <a:pPr algn="r"/>
            <a:r>
              <a:rPr sz="1000" b="0" i="0">
                <a:solidFill>
                  <a:srgbClr val="FFFFFF"/>
                </a:solidFill>
                <a:latin typeface="Calibri"/>
              </a:rPr>
              <a:t>11</a:t>
            </a:r>
          </a:p>
        </p:txBody>
      </p:sp>
      <p:sp>
        <p:nvSpPr>
          <p:cNvPr id="12" name="Rectangle 1">
            <a:extLst>
              <a:ext uri="{FF2B5EF4-FFF2-40B4-BE49-F238E27FC236}">
                <a16:creationId xmlns:a16="http://schemas.microsoft.com/office/drawing/2014/main" id="{9D2268DB-117C-92D8-31CB-FAC9CF93CE0A}"/>
              </a:ext>
            </a:extLst>
          </p:cNvPr>
          <p:cNvSpPr>
            <a:spLocks noGrp="1" noChangeArrowheads="1"/>
          </p:cNvSpPr>
          <p:nvPr>
            <p:ph idx="1"/>
          </p:nvPr>
        </p:nvSpPr>
        <p:spPr bwMode="auto">
          <a:xfrm>
            <a:off x="609600" y="1875146"/>
            <a:ext cx="938348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SHAP explains why the model predicted a specific emotion</a:t>
            </a:r>
            <a:r>
              <a:rPr kumimoji="0" lang="en-US" altLang="en-US" sz="14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dirty="0">
                <a:ln>
                  <a:noFill/>
                </a:ln>
                <a:solidFill>
                  <a:schemeClr val="tx1"/>
                </a:solidFill>
                <a:effectLst/>
              </a:rPr>
              <a:t>  Without this, the model is a black box</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Measures how much each sensor (EEG, GSR, Video) contributed</a:t>
            </a:r>
            <a:r>
              <a:rPr kumimoji="0" lang="en-US" altLang="en-US" sz="14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dirty="0">
                <a:ln>
                  <a:noFill/>
                </a:ln>
                <a:solidFill>
                  <a:schemeClr val="tx1"/>
                </a:solidFill>
                <a:effectLst/>
              </a:rPr>
              <a:t>  Shows which sensor drove the decision and by how much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Uses 4 combinations: no sensors → physio only → video only → both</a:t>
            </a:r>
            <a:r>
              <a:rPr kumimoji="0" lang="en-US" altLang="en-US" sz="14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dirty="0">
                <a:ln>
                  <a:noFill/>
                </a:ln>
                <a:solidFill>
                  <a:schemeClr val="tx1"/>
                </a:solidFill>
                <a:effectLst/>
              </a:rPr>
              <a:t>  Tests every scenario to fairly credit each modality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Gives a signed contribution score for each sensor</a:t>
            </a:r>
            <a:r>
              <a:rPr kumimoji="0" lang="en-US" altLang="en-US" sz="14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dirty="0">
                <a:ln>
                  <a:noFill/>
                </a:ln>
                <a:solidFill>
                  <a:schemeClr val="tx1"/>
                </a:solidFill>
                <a:effectLst/>
              </a:rPr>
              <a:t>  Positive = pushed towards the predicted emotion, Negative = pushed against it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Faithfulness score checks if the explanation is trustworthy</a:t>
            </a:r>
            <a:r>
              <a:rPr kumimoji="0" lang="en-US" altLang="en-US" sz="14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dirty="0">
                <a:ln>
                  <a:noFill/>
                </a:ln>
                <a:solidFill>
                  <a:schemeClr val="tx1"/>
                </a:solidFill>
                <a:effectLst/>
              </a:rPr>
              <a:t>  Compares SHAP ranking with actual confidence drops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961120" cy="777240"/>
          </a:xfrm>
          <a:prstGeom prst="rect">
            <a:avLst/>
          </a:prstGeom>
          <a:noFill/>
        </p:spPr>
        <p:txBody>
          <a:bodyPr wrap="square" anchor="ctr">
            <a:spAutoFit/>
          </a:bodyPr>
          <a:lstStyle/>
          <a:p>
            <a:r>
              <a:rPr sz="2800" b="1" i="0">
                <a:solidFill>
                  <a:srgbClr val="FFFFFF"/>
                </a:solidFill>
                <a:latin typeface="Calibri"/>
              </a:rPr>
              <a:t>Backend &amp; Web Application</a:t>
            </a:r>
          </a:p>
        </p:txBody>
      </p:sp>
      <p:sp>
        <p:nvSpPr>
          <p:cNvPr id="5" name="Rectangle 4"/>
          <p:cNvSpPr/>
          <p:nvPr/>
        </p:nvSpPr>
        <p:spPr>
          <a:xfrm>
            <a:off x="9082735" y="310896"/>
            <a:ext cx="2651760" cy="45720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Member 3 · Adshaya</a:t>
            </a:r>
          </a:p>
        </p:txBody>
      </p:sp>
      <p:sp>
        <p:nvSpPr>
          <p:cNvPr id="14" name="Rectangle 13"/>
          <p:cNvSpPr/>
          <p:nvPr/>
        </p:nvSpPr>
        <p:spPr>
          <a:xfrm>
            <a:off x="0" y="6565392"/>
            <a:ext cx="12191695" cy="292608"/>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6547104"/>
            <a:ext cx="8229600" cy="274320"/>
          </a:xfrm>
          <a:prstGeom prst="rect">
            <a:avLst/>
          </a:prstGeom>
          <a:noFill/>
        </p:spPr>
        <p:txBody>
          <a:bodyPr wrap="square" anchor="ctr">
            <a:spAutoFit/>
          </a:bodyPr>
          <a:lstStyle/>
          <a:p>
            <a:r>
              <a:rPr sz="1000" b="0" i="0">
                <a:solidFill>
                  <a:srgbClr val="FFFFFF"/>
                </a:solidFill>
                <a:latin typeface="Calibri"/>
              </a:rPr>
              <a:t>MedOracle  ·  Interim Review 2026  ·  University of Moratuwa</a:t>
            </a:r>
          </a:p>
        </p:txBody>
      </p:sp>
      <p:sp>
        <p:nvSpPr>
          <p:cNvPr id="16" name="TextBox 15"/>
          <p:cNvSpPr txBox="1"/>
          <p:nvPr/>
        </p:nvSpPr>
        <p:spPr>
          <a:xfrm>
            <a:off x="11094415" y="6547104"/>
            <a:ext cx="731520" cy="274320"/>
          </a:xfrm>
          <a:prstGeom prst="rect">
            <a:avLst/>
          </a:prstGeom>
          <a:noFill/>
        </p:spPr>
        <p:txBody>
          <a:bodyPr wrap="square" anchor="ctr">
            <a:spAutoFit/>
          </a:bodyPr>
          <a:lstStyle/>
          <a:p>
            <a:pPr algn="r"/>
            <a:r>
              <a:rPr sz="1000" b="0" i="0">
                <a:solidFill>
                  <a:srgbClr val="FFFFFF"/>
                </a:solidFill>
                <a:latin typeface="Calibri"/>
              </a:rPr>
              <a:t>12</a:t>
            </a:r>
          </a:p>
        </p:txBody>
      </p:sp>
      <p:sp>
        <p:nvSpPr>
          <p:cNvPr id="18" name="Content Placeholder 17">
            <a:extLst>
              <a:ext uri="{FF2B5EF4-FFF2-40B4-BE49-F238E27FC236}">
                <a16:creationId xmlns:a16="http://schemas.microsoft.com/office/drawing/2014/main" id="{F2A69964-B205-F338-ECFA-F90D1E7F05F9}"/>
              </a:ext>
            </a:extLst>
          </p:cNvPr>
          <p:cNvSpPr>
            <a:spLocks noGrp="1"/>
          </p:cNvSpPr>
          <p:nvPr>
            <p:ph idx="1"/>
          </p:nvPr>
        </p:nvSpPr>
        <p:spPr>
          <a:xfrm>
            <a:off x="457200" y="1643742"/>
            <a:ext cx="8229600" cy="4525963"/>
          </a:xfrm>
        </p:spPr>
        <p:txBody>
          <a:bodyPr>
            <a:normAutofit/>
          </a:bodyPr>
          <a:lstStyle/>
          <a:p>
            <a:pPr marL="0" indent="0">
              <a:buNone/>
            </a:pPr>
            <a:r>
              <a:rPr lang="en-US" sz="1400" b="1" dirty="0"/>
              <a:t>Backend (</a:t>
            </a:r>
            <a:r>
              <a:rPr lang="en-US" sz="1400" b="1" dirty="0" err="1"/>
              <a:t>FastAPI</a:t>
            </a:r>
            <a:r>
              <a:rPr lang="en-US" sz="1400" b="1" dirty="0"/>
              <a:t>)</a:t>
            </a:r>
            <a:endParaRPr lang="en-US" sz="1400" dirty="0"/>
          </a:p>
          <a:p>
            <a:pPr>
              <a:buFont typeface="Arial" panose="020B0604020202020204" pitchFamily="34" charset="0"/>
              <a:buChar char="•"/>
            </a:pPr>
            <a:r>
              <a:rPr lang="en-US" sz="1400" dirty="0"/>
              <a:t>REST API endpoints — login, predict, explain, sessions, chat, dashboard</a:t>
            </a:r>
          </a:p>
          <a:p>
            <a:pPr>
              <a:buFont typeface="Arial" panose="020B0604020202020204" pitchFamily="34" charset="0"/>
              <a:buChar char="•"/>
            </a:pPr>
            <a:r>
              <a:rPr lang="en-US" sz="1400" dirty="0"/>
              <a:t>Stores all results in a database (sessions, SHAP logs, chat history)</a:t>
            </a:r>
          </a:p>
          <a:p>
            <a:pPr>
              <a:buFont typeface="Arial" panose="020B0604020202020204" pitchFamily="34" charset="0"/>
              <a:buChar char="•"/>
            </a:pPr>
            <a:r>
              <a:rPr lang="en-US" sz="1400" dirty="0"/>
              <a:t>JWT authentication for secure user login</a:t>
            </a:r>
          </a:p>
          <a:p>
            <a:pPr marL="0" indent="0">
              <a:buNone/>
            </a:pPr>
            <a:endParaRPr lang="en-US" sz="1400" dirty="0"/>
          </a:p>
          <a:p>
            <a:pPr marL="0" indent="0">
              <a:buNone/>
            </a:pPr>
            <a:r>
              <a:rPr lang="en-US" sz="1400" b="1" dirty="0"/>
              <a:t>Web Dashboard (React)</a:t>
            </a:r>
            <a:endParaRPr lang="en-US" sz="1400" dirty="0"/>
          </a:p>
          <a:p>
            <a:pPr>
              <a:buFont typeface="Arial" panose="020B0604020202020204" pitchFamily="34" charset="0"/>
              <a:buChar char="•"/>
            </a:pPr>
            <a:r>
              <a:rPr lang="en-US" sz="1400" dirty="0"/>
              <a:t>Shows predicted emotion, confidence, signal quality</a:t>
            </a:r>
          </a:p>
          <a:p>
            <a:pPr>
              <a:buFont typeface="Arial" panose="020B0604020202020204" pitchFamily="34" charset="0"/>
              <a:buChar char="•"/>
            </a:pPr>
            <a:r>
              <a:rPr lang="en-US" sz="1400" dirty="0"/>
              <a:t>SHAP bar chart — which sensor contributed most</a:t>
            </a:r>
          </a:p>
          <a:p>
            <a:pPr>
              <a:buFont typeface="Arial" panose="020B0604020202020204" pitchFamily="34" charset="0"/>
              <a:buChar char="•"/>
            </a:pPr>
            <a:r>
              <a:rPr lang="en-US" sz="1400" dirty="0"/>
              <a:t>Emotion trend chart across sessions</a:t>
            </a:r>
          </a:p>
          <a:p>
            <a:pPr>
              <a:buFont typeface="Arial" panose="020B0604020202020204" pitchFamily="34" charset="0"/>
              <a:buChar char="•"/>
            </a:pPr>
            <a:r>
              <a:rPr lang="en-US" sz="1400" dirty="0"/>
              <a:t>Session history panel</a:t>
            </a:r>
          </a:p>
          <a:p>
            <a:pPr marL="0" indent="0">
              <a:buNone/>
            </a:pPr>
            <a:endParaRPr lang="en-US" sz="1400" dirty="0"/>
          </a:p>
          <a:p>
            <a:pPr marL="0" indent="0">
              <a:buNone/>
            </a:pPr>
            <a:r>
              <a:rPr lang="en-US" sz="1400" b="1" dirty="0"/>
              <a:t>LLM Chatbot</a:t>
            </a:r>
            <a:endParaRPr lang="en-US" sz="1400" dirty="0"/>
          </a:p>
          <a:p>
            <a:pPr>
              <a:buFont typeface="Arial" panose="020B0604020202020204" pitchFamily="34" charset="0"/>
              <a:buChar char="•"/>
            </a:pPr>
            <a:r>
              <a:rPr lang="en-US" sz="1400" dirty="0"/>
              <a:t>Auto-explains results after every prediction</a:t>
            </a:r>
          </a:p>
          <a:p>
            <a:pPr>
              <a:buFont typeface="Arial" panose="020B0604020202020204" pitchFamily="34" charset="0"/>
              <a:buChar char="•"/>
            </a:pPr>
            <a:r>
              <a:rPr lang="en-US" sz="1400" dirty="0"/>
              <a:t>User can ask follow-up questions</a:t>
            </a:r>
          </a:p>
          <a:p>
            <a:pPr>
              <a:buFont typeface="Arial" panose="020B0604020202020204" pitchFamily="34" charset="0"/>
              <a:buChar char="•"/>
            </a:pPr>
            <a:r>
              <a:rPr lang="en-US" sz="1400" dirty="0"/>
              <a:t>Powered by </a:t>
            </a:r>
            <a:r>
              <a:rPr lang="en-US" sz="1400" dirty="0" err="1"/>
              <a:t>DeepSeek</a:t>
            </a:r>
            <a:r>
              <a:rPr lang="en-US" sz="1400" dirty="0"/>
              <a:t> — restricted to emotion analysis topics only</a:t>
            </a:r>
          </a:p>
          <a:p>
            <a:pPr marL="0" indent="0">
              <a:buNone/>
            </a:pP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961120" cy="777240"/>
          </a:xfrm>
          <a:prstGeom prst="rect">
            <a:avLst/>
          </a:prstGeom>
          <a:noFill/>
        </p:spPr>
        <p:txBody>
          <a:bodyPr wrap="square" anchor="ctr">
            <a:spAutoFit/>
          </a:bodyPr>
          <a:lstStyle/>
          <a:p>
            <a:r>
              <a:rPr sz="2800" b="1" i="0">
                <a:solidFill>
                  <a:srgbClr val="FFFFFF"/>
                </a:solidFill>
                <a:latin typeface="Calibri"/>
              </a:rPr>
              <a:t>Progress Summary &amp; Evaluation Plan</a:t>
            </a:r>
          </a:p>
        </p:txBody>
      </p:sp>
      <p:sp>
        <p:nvSpPr>
          <p:cNvPr id="5" name="Rectangle 4"/>
          <p:cNvSpPr/>
          <p:nvPr/>
        </p:nvSpPr>
        <p:spPr>
          <a:xfrm>
            <a:off x="411480" y="1371600"/>
            <a:ext cx="5486400" cy="5029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371600"/>
            <a:ext cx="5120640" cy="502920"/>
          </a:xfrm>
          <a:prstGeom prst="rect">
            <a:avLst/>
          </a:prstGeom>
          <a:noFill/>
        </p:spPr>
        <p:txBody>
          <a:bodyPr wrap="square" anchor="ctr">
            <a:spAutoFit/>
          </a:bodyPr>
          <a:lstStyle/>
          <a:p>
            <a:r>
              <a:rPr sz="1500" b="1" i="0">
                <a:solidFill>
                  <a:srgbClr val="FFFFFF"/>
                </a:solidFill>
                <a:latin typeface="Calibri"/>
              </a:rPr>
              <a:t>Done at interim</a:t>
            </a:r>
          </a:p>
        </p:txBody>
      </p:sp>
      <p:sp>
        <p:nvSpPr>
          <p:cNvPr id="7" name="Rectangle 6"/>
          <p:cNvSpPr/>
          <p:nvPr/>
        </p:nvSpPr>
        <p:spPr>
          <a:xfrm>
            <a:off x="411480" y="1874520"/>
            <a:ext cx="5486400" cy="43434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029968"/>
            <a:ext cx="5120640" cy="4114800"/>
          </a:xfrm>
          <a:prstGeom prst="rect">
            <a:avLst/>
          </a:prstGeom>
          <a:noFill/>
        </p:spPr>
        <p:txBody>
          <a:bodyPr wrap="square" anchor="t">
            <a:spAutoFit/>
          </a:bodyPr>
          <a:lstStyle/>
          <a:p>
            <a:pPr>
              <a:spcBef>
                <a:spcPts val="0"/>
              </a:spcBef>
              <a:spcAft>
                <a:spcPts val="500"/>
              </a:spcAft>
            </a:pPr>
            <a:r>
              <a:rPr sz="1400" b="1" i="0" dirty="0">
                <a:solidFill>
                  <a:srgbClr val="2A9D8F"/>
                </a:solidFill>
                <a:latin typeface="Calibri"/>
              </a:rPr>
              <a:t>▸ </a:t>
            </a:r>
            <a:r>
              <a:rPr sz="1400" b="0" i="0" dirty="0">
                <a:solidFill>
                  <a:srgbClr val="222A33"/>
                </a:solidFill>
                <a:latin typeface="Calibri"/>
              </a:rPr>
              <a:t>Full architecture + interface contracts </a:t>
            </a:r>
            <a:r>
              <a:rPr sz="1400" b="0" i="0" dirty="0" err="1">
                <a:solidFill>
                  <a:srgbClr val="222A33"/>
                </a:solidFill>
                <a:latin typeface="Calibri"/>
              </a:rPr>
              <a:t>finalised</a:t>
            </a:r>
            <a:endParaRPr sz="1400" b="0" i="0" dirty="0">
              <a:solidFill>
                <a:srgbClr val="222A33"/>
              </a:solidFill>
              <a:latin typeface="Calibri"/>
            </a:endParaRPr>
          </a:p>
          <a:p>
            <a:pPr>
              <a:spcBef>
                <a:spcPts val="0"/>
              </a:spcBef>
              <a:spcAft>
                <a:spcPts val="500"/>
              </a:spcAft>
            </a:pPr>
            <a:r>
              <a:rPr sz="1400" b="1" i="0" dirty="0">
                <a:solidFill>
                  <a:srgbClr val="2A9D8F"/>
                </a:solidFill>
                <a:latin typeface="Calibri"/>
              </a:rPr>
              <a:t>▸ </a:t>
            </a:r>
            <a:r>
              <a:rPr sz="1400" b="0" i="0" dirty="0">
                <a:solidFill>
                  <a:srgbClr val="222A33"/>
                </a:solidFill>
                <a:latin typeface="Calibri"/>
              </a:rPr>
              <a:t>Label </a:t>
            </a:r>
            <a:r>
              <a:rPr sz="1400" b="0" i="0" dirty="0" err="1">
                <a:solidFill>
                  <a:srgbClr val="222A33"/>
                </a:solidFill>
                <a:latin typeface="Calibri"/>
              </a:rPr>
              <a:t>harmonisation</a:t>
            </a:r>
            <a:r>
              <a:rPr sz="1400" b="0" i="0" dirty="0">
                <a:solidFill>
                  <a:srgbClr val="222A33"/>
                </a:solidFill>
                <a:latin typeface="Calibri"/>
              </a:rPr>
              <a:t> — 59 unit tests pass</a:t>
            </a:r>
          </a:p>
          <a:p>
            <a:pPr>
              <a:spcBef>
                <a:spcPts val="0"/>
              </a:spcBef>
              <a:spcAft>
                <a:spcPts val="500"/>
              </a:spcAft>
            </a:pPr>
            <a:r>
              <a:rPr sz="1400" b="1" i="0" dirty="0">
                <a:solidFill>
                  <a:srgbClr val="2A9D8F"/>
                </a:solidFill>
                <a:latin typeface="Calibri"/>
              </a:rPr>
              <a:t>▸ </a:t>
            </a:r>
            <a:r>
              <a:rPr sz="1400" b="0" i="0" dirty="0">
                <a:solidFill>
                  <a:srgbClr val="222A33"/>
                </a:solidFill>
                <a:latin typeface="Calibri"/>
              </a:rPr>
              <a:t>M1: DEAP verified, EEG/GSR preprocessing + features</a:t>
            </a:r>
          </a:p>
          <a:p>
            <a:pPr>
              <a:spcBef>
                <a:spcPts val="0"/>
              </a:spcBef>
              <a:spcAft>
                <a:spcPts val="500"/>
              </a:spcAft>
            </a:pPr>
            <a:r>
              <a:rPr sz="1400" b="1" i="0" dirty="0">
                <a:solidFill>
                  <a:srgbClr val="2A9D8F"/>
                </a:solidFill>
                <a:latin typeface="Calibri"/>
              </a:rPr>
              <a:t>▸ </a:t>
            </a:r>
            <a:r>
              <a:rPr sz="1400" b="0" i="0" dirty="0">
                <a:solidFill>
                  <a:srgbClr val="222A33"/>
                </a:solidFill>
                <a:latin typeface="Calibri"/>
              </a:rPr>
              <a:t>M2: full video pipeline + model; training underway</a:t>
            </a:r>
          </a:p>
          <a:p>
            <a:pPr>
              <a:spcBef>
                <a:spcPts val="0"/>
              </a:spcBef>
              <a:spcAft>
                <a:spcPts val="500"/>
              </a:spcAft>
            </a:pPr>
            <a:r>
              <a:rPr sz="1400" b="1" i="0" dirty="0">
                <a:solidFill>
                  <a:srgbClr val="2A9D8F"/>
                </a:solidFill>
                <a:latin typeface="Calibri"/>
              </a:rPr>
              <a:t>▸ </a:t>
            </a:r>
            <a:r>
              <a:rPr sz="1400" b="0" i="0" dirty="0">
                <a:solidFill>
                  <a:srgbClr val="222A33"/>
                </a:solidFill>
                <a:latin typeface="Calibri"/>
              </a:rPr>
              <a:t>M3: Kernel SHAP + faithfulness; auth + /predict done</a:t>
            </a:r>
          </a:p>
        </p:txBody>
      </p:sp>
      <p:sp>
        <p:nvSpPr>
          <p:cNvPr id="9" name="Rectangle 8"/>
          <p:cNvSpPr/>
          <p:nvPr/>
        </p:nvSpPr>
        <p:spPr>
          <a:xfrm>
            <a:off x="6263640" y="1371600"/>
            <a:ext cx="5486400" cy="502920"/>
          </a:xfrm>
          <a:prstGeom prst="rect">
            <a:avLst/>
          </a:prstGeom>
          <a:solidFill>
            <a:srgbClr val="E9A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371600"/>
            <a:ext cx="5120640" cy="502920"/>
          </a:xfrm>
          <a:prstGeom prst="rect">
            <a:avLst/>
          </a:prstGeom>
          <a:noFill/>
        </p:spPr>
        <p:txBody>
          <a:bodyPr wrap="square" anchor="ctr">
            <a:spAutoFit/>
          </a:bodyPr>
          <a:lstStyle/>
          <a:p>
            <a:r>
              <a:rPr sz="1500" b="1" i="0">
                <a:solidFill>
                  <a:srgbClr val="FFFFFF"/>
                </a:solidFill>
                <a:latin typeface="Calibri"/>
              </a:rPr>
              <a:t>Remaining work</a:t>
            </a:r>
          </a:p>
        </p:txBody>
      </p:sp>
      <p:sp>
        <p:nvSpPr>
          <p:cNvPr id="11" name="Rectangle 10"/>
          <p:cNvSpPr/>
          <p:nvPr/>
        </p:nvSpPr>
        <p:spPr>
          <a:xfrm>
            <a:off x="6263640" y="1874520"/>
            <a:ext cx="5486400" cy="43434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2029968"/>
            <a:ext cx="5120640" cy="1426031"/>
          </a:xfrm>
          <a:prstGeom prst="rect">
            <a:avLst/>
          </a:prstGeom>
          <a:noFill/>
        </p:spPr>
        <p:txBody>
          <a:bodyPr wrap="square" anchor="t">
            <a:spAutoFit/>
          </a:bodyPr>
          <a:lstStyle/>
          <a:p>
            <a:pPr>
              <a:spcBef>
                <a:spcPts val="0"/>
              </a:spcBef>
              <a:spcAft>
                <a:spcPts val="500"/>
              </a:spcAft>
            </a:pPr>
            <a:r>
              <a:rPr sz="1400" b="1" i="0" dirty="0">
                <a:solidFill>
                  <a:srgbClr val="2A9D8F"/>
                </a:solidFill>
                <a:latin typeface="Calibri"/>
              </a:rPr>
              <a:t>▸ </a:t>
            </a:r>
            <a:r>
              <a:rPr sz="1400" b="0" i="0" dirty="0">
                <a:solidFill>
                  <a:srgbClr val="222A33"/>
                </a:solidFill>
                <a:latin typeface="Calibri"/>
              </a:rPr>
              <a:t>M1: train Bi-attention net, LOSO over 32 subjects</a:t>
            </a:r>
          </a:p>
          <a:p>
            <a:pPr>
              <a:spcBef>
                <a:spcPts val="0"/>
              </a:spcBef>
              <a:spcAft>
                <a:spcPts val="500"/>
              </a:spcAft>
            </a:pPr>
            <a:r>
              <a:rPr sz="1400" b="1" i="0" dirty="0">
                <a:solidFill>
                  <a:srgbClr val="2A9D8F"/>
                </a:solidFill>
                <a:latin typeface="Calibri"/>
              </a:rPr>
              <a:t>▸ </a:t>
            </a:r>
            <a:r>
              <a:rPr sz="1400" b="0" i="0" dirty="0">
                <a:solidFill>
                  <a:srgbClr val="222A33"/>
                </a:solidFill>
                <a:latin typeface="Calibri"/>
              </a:rPr>
              <a:t>M2: finish 5-fold, build fusion.py + pipeline.py</a:t>
            </a:r>
          </a:p>
          <a:p>
            <a:pPr>
              <a:spcBef>
                <a:spcPts val="0"/>
              </a:spcBef>
              <a:spcAft>
                <a:spcPts val="500"/>
              </a:spcAft>
            </a:pPr>
            <a:r>
              <a:rPr sz="1400" b="1" i="0" dirty="0">
                <a:solidFill>
                  <a:srgbClr val="2A9D8F"/>
                </a:solidFill>
                <a:latin typeface="Calibri"/>
              </a:rPr>
              <a:t>▸ </a:t>
            </a:r>
            <a:r>
              <a:rPr sz="1400" b="0" i="0" dirty="0">
                <a:solidFill>
                  <a:srgbClr val="222A33"/>
                </a:solidFill>
                <a:latin typeface="Calibri"/>
              </a:rPr>
              <a:t>M3: React dashboard, LLM chatbot</a:t>
            </a:r>
          </a:p>
          <a:p>
            <a:pPr>
              <a:spcBef>
                <a:spcPts val="0"/>
              </a:spcBef>
              <a:spcAft>
                <a:spcPts val="500"/>
              </a:spcAft>
            </a:pPr>
            <a:r>
              <a:rPr sz="1400" b="1" i="0" dirty="0">
                <a:solidFill>
                  <a:srgbClr val="2A9D8F"/>
                </a:solidFill>
                <a:latin typeface="Calibri"/>
              </a:rPr>
              <a:t>▸ </a:t>
            </a:r>
            <a:r>
              <a:rPr sz="1400" b="0" i="0" dirty="0">
                <a:solidFill>
                  <a:srgbClr val="222A33"/>
                </a:solidFill>
                <a:latin typeface="Calibri"/>
              </a:rPr>
              <a:t>Integration: </a:t>
            </a:r>
            <a:r>
              <a:rPr sz="1400" b="0" i="0" dirty="0" err="1">
                <a:solidFill>
                  <a:srgbClr val="222A33"/>
                </a:solidFill>
                <a:latin typeface="Calibri"/>
              </a:rPr>
              <a:t>run_full_pipeline</a:t>
            </a:r>
            <a:r>
              <a:rPr sz="1400" b="0" i="0" dirty="0">
                <a:solidFill>
                  <a:srgbClr val="222A33"/>
                </a:solidFill>
                <a:latin typeface="Calibri"/>
              </a:rPr>
              <a:t>() across all modules</a:t>
            </a:r>
          </a:p>
          <a:p>
            <a:pPr>
              <a:spcBef>
                <a:spcPts val="0"/>
              </a:spcBef>
              <a:spcAft>
                <a:spcPts val="500"/>
              </a:spcAft>
            </a:pPr>
            <a:r>
              <a:rPr sz="1400" b="1" i="0" dirty="0">
                <a:solidFill>
                  <a:srgbClr val="2A9D8F"/>
                </a:solidFill>
                <a:latin typeface="Calibri"/>
              </a:rPr>
              <a:t>▸ </a:t>
            </a:r>
            <a:r>
              <a:rPr sz="1400" b="0" i="0" dirty="0">
                <a:solidFill>
                  <a:srgbClr val="222A33"/>
                </a:solidFill>
                <a:latin typeface="Calibri"/>
              </a:rPr>
              <a:t>Ablation study C1–C8 + Wilcoxon significance tests</a:t>
            </a:r>
          </a:p>
        </p:txBody>
      </p:sp>
      <p:sp>
        <p:nvSpPr>
          <p:cNvPr id="13" name="TextBox 12"/>
          <p:cNvSpPr txBox="1"/>
          <p:nvPr/>
        </p:nvSpPr>
        <p:spPr>
          <a:xfrm>
            <a:off x="411480" y="6263640"/>
            <a:ext cx="11338560" cy="457200"/>
          </a:xfrm>
          <a:prstGeom prst="rect">
            <a:avLst/>
          </a:prstGeom>
          <a:noFill/>
        </p:spPr>
        <p:txBody>
          <a:bodyPr wrap="square" anchor="t">
            <a:spAutoFit/>
          </a:bodyPr>
          <a:lstStyle/>
          <a:p>
            <a:r>
              <a:rPr sz="1300" b="1" i="0">
                <a:solidFill>
                  <a:srgbClr val="1F3B5B"/>
                </a:solidFill>
                <a:latin typeface="Calibri"/>
              </a:rPr>
              <a:t>Evaluation: per-module CV (LOSO / 5-fold macro-F1) → full-pipeline ablation (C1–C5) + robustness (C6–C8) on a held-out test set.</a:t>
            </a:r>
          </a:p>
        </p:txBody>
      </p:sp>
      <p:sp>
        <p:nvSpPr>
          <p:cNvPr id="14" name="Rectangle 13"/>
          <p:cNvSpPr/>
          <p:nvPr/>
        </p:nvSpPr>
        <p:spPr>
          <a:xfrm>
            <a:off x="0" y="6565392"/>
            <a:ext cx="12191695" cy="292608"/>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6547104"/>
            <a:ext cx="8229600" cy="274320"/>
          </a:xfrm>
          <a:prstGeom prst="rect">
            <a:avLst/>
          </a:prstGeom>
          <a:noFill/>
        </p:spPr>
        <p:txBody>
          <a:bodyPr wrap="square" anchor="ctr">
            <a:spAutoFit/>
          </a:bodyPr>
          <a:lstStyle/>
          <a:p>
            <a:r>
              <a:rPr sz="1000" b="0" i="0">
                <a:solidFill>
                  <a:srgbClr val="FFFFFF"/>
                </a:solidFill>
                <a:latin typeface="Calibri"/>
              </a:rPr>
              <a:t>MedOracle  ·  Interim Review 2026  ·  University of Moratuwa</a:t>
            </a:r>
          </a:p>
        </p:txBody>
      </p:sp>
      <p:sp>
        <p:nvSpPr>
          <p:cNvPr id="16" name="TextBox 15"/>
          <p:cNvSpPr txBox="1"/>
          <p:nvPr/>
        </p:nvSpPr>
        <p:spPr>
          <a:xfrm>
            <a:off x="11094415" y="6547104"/>
            <a:ext cx="731520" cy="274320"/>
          </a:xfrm>
          <a:prstGeom prst="rect">
            <a:avLst/>
          </a:prstGeom>
          <a:noFill/>
        </p:spPr>
        <p:txBody>
          <a:bodyPr wrap="square" anchor="ctr">
            <a:spAutoFit/>
          </a:bodyPr>
          <a:lstStyle/>
          <a:p>
            <a:pPr algn="r"/>
            <a:r>
              <a:rPr sz="1000" b="0" i="0">
                <a:solidFill>
                  <a:srgbClr val="FFFFFF"/>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463040"/>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457200"/>
            <a:ext cx="10972800" cy="914400"/>
          </a:xfrm>
          <a:prstGeom prst="rect">
            <a:avLst/>
          </a:prstGeom>
          <a:noFill/>
        </p:spPr>
        <p:txBody>
          <a:bodyPr wrap="square" anchor="t">
            <a:spAutoFit/>
          </a:bodyPr>
          <a:lstStyle/>
          <a:p>
            <a:r>
              <a:rPr sz="3200" b="1" i="0">
                <a:solidFill>
                  <a:srgbClr val="FFFFFF"/>
                </a:solidFill>
                <a:latin typeface="Calibri"/>
              </a:rPr>
              <a:t>What Makes MedOracle Different</a:t>
            </a:r>
          </a:p>
        </p:txBody>
      </p:sp>
      <p:sp>
        <p:nvSpPr>
          <p:cNvPr id="5" name="TextBox 4"/>
          <p:cNvSpPr txBox="1"/>
          <p:nvPr/>
        </p:nvSpPr>
        <p:spPr>
          <a:xfrm>
            <a:off x="640080" y="2052668"/>
            <a:ext cx="10972800" cy="1282402"/>
          </a:xfrm>
          <a:prstGeom prst="rect">
            <a:avLst/>
          </a:prstGeom>
          <a:noFill/>
        </p:spPr>
        <p:txBody>
          <a:bodyPr wrap="square" anchor="t">
            <a:spAutoFit/>
          </a:bodyPr>
          <a:lstStyle/>
          <a:p>
            <a:pPr>
              <a:spcBef>
                <a:spcPts val="0"/>
              </a:spcBef>
              <a:spcAft>
                <a:spcPts val="1400"/>
              </a:spcAft>
            </a:pPr>
            <a:r>
              <a:rPr sz="1800" b="1" i="0" dirty="0">
                <a:solidFill>
                  <a:srgbClr val="2A9D8F"/>
                </a:solidFill>
                <a:latin typeface="Calibri"/>
              </a:rPr>
              <a:t>▸ </a:t>
            </a:r>
            <a:r>
              <a:rPr sz="1800" b="0" i="0" dirty="0">
                <a:solidFill>
                  <a:schemeClr val="bg1">
                    <a:lumMod val="75000"/>
                  </a:schemeClr>
                </a:solidFill>
                <a:latin typeface="Calibri"/>
              </a:rPr>
              <a:t>Cross-dataset late fusion — explicitly handles the realistic case of no shared subjects across modalities.</a:t>
            </a:r>
          </a:p>
          <a:p>
            <a:pPr>
              <a:spcBef>
                <a:spcPts val="0"/>
              </a:spcBef>
              <a:spcAft>
                <a:spcPts val="1400"/>
              </a:spcAft>
            </a:pPr>
            <a:r>
              <a:rPr sz="1800" b="1" i="0" dirty="0">
                <a:solidFill>
                  <a:srgbClr val="2A9D8F"/>
                </a:solidFill>
                <a:latin typeface="Calibri"/>
              </a:rPr>
              <a:t>▸ </a:t>
            </a:r>
            <a:r>
              <a:rPr sz="1800" b="0" i="0" dirty="0">
                <a:solidFill>
                  <a:schemeClr val="bg1">
                    <a:lumMod val="75000"/>
                  </a:schemeClr>
                </a:solidFill>
                <a:latin typeface="Calibri"/>
              </a:rPr>
              <a:t>Signal-quality-aware gated fusion with graceful degradation — robust when inputs are poor or missing.</a:t>
            </a:r>
          </a:p>
          <a:p>
            <a:pPr>
              <a:spcBef>
                <a:spcPts val="0"/>
              </a:spcBef>
              <a:spcAft>
                <a:spcPts val="1400"/>
              </a:spcAft>
            </a:pPr>
            <a:r>
              <a:rPr sz="1800" b="1" i="0" dirty="0">
                <a:solidFill>
                  <a:srgbClr val="2A9D8F"/>
                </a:solidFill>
                <a:latin typeface="Calibri"/>
              </a:rPr>
              <a:t>▸ </a:t>
            </a:r>
            <a:r>
              <a:rPr sz="1800" b="0" i="0" dirty="0">
                <a:solidFill>
                  <a:schemeClr val="bg1">
                    <a:lumMod val="75000"/>
                  </a:schemeClr>
                </a:solidFill>
                <a:latin typeface="Calibri"/>
              </a:rPr>
              <a:t>Explainability built in — Kernel SHAP + a faithfulness metric + an LLM chatbot for plain-English reasons.</a:t>
            </a:r>
          </a:p>
        </p:txBody>
      </p:sp>
      <p:sp>
        <p:nvSpPr>
          <p:cNvPr id="6" name="TextBox 5"/>
          <p:cNvSpPr txBox="1"/>
          <p:nvPr/>
        </p:nvSpPr>
        <p:spPr>
          <a:xfrm>
            <a:off x="640080" y="4480560"/>
            <a:ext cx="10972800" cy="1280160"/>
          </a:xfrm>
          <a:prstGeom prst="rect">
            <a:avLst/>
          </a:prstGeom>
          <a:noFill/>
        </p:spPr>
        <p:txBody>
          <a:bodyPr wrap="square" anchor="t">
            <a:spAutoFit/>
          </a:bodyPr>
          <a:lstStyle/>
          <a:p>
            <a:r>
              <a:rPr sz="1600" b="0" i="1">
                <a:solidFill>
                  <a:srgbClr val="C9D3DE"/>
                </a:solidFill>
                <a:latin typeface="Calibri"/>
              </a:rPr>
              <a:t>On track: architecture complete, all three modules implemented and validated, preliminary video results promising. Remaining work is training, fusion, and the web app.</a:t>
            </a:r>
          </a:p>
        </p:txBody>
      </p:sp>
      <p:sp>
        <p:nvSpPr>
          <p:cNvPr id="7" name="TextBox 6"/>
          <p:cNvSpPr txBox="1"/>
          <p:nvPr/>
        </p:nvSpPr>
        <p:spPr>
          <a:xfrm>
            <a:off x="640080" y="5577840"/>
            <a:ext cx="10972800" cy="914400"/>
          </a:xfrm>
          <a:prstGeom prst="rect">
            <a:avLst/>
          </a:prstGeom>
          <a:noFill/>
        </p:spPr>
        <p:txBody>
          <a:bodyPr wrap="square" anchor="t">
            <a:spAutoFit/>
          </a:bodyPr>
          <a:lstStyle/>
          <a:p>
            <a:r>
              <a:rPr sz="2600" b="1" i="0">
                <a:solidFill>
                  <a:srgbClr val="E9A84A"/>
                </a:solidFill>
                <a:latin typeface="Calibri"/>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546</TotalTime>
  <Words>3062</Words>
  <Application>Microsoft Macintosh PowerPoint</Application>
  <PresentationFormat>Widescreen</PresentationFormat>
  <Paragraphs>214</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user</dc:creator>
  <cp:keywords/>
  <dc:description>generated using python-pptx</dc:description>
  <cp:lastModifiedBy>vanaiyan kirupagaran</cp:lastModifiedBy>
  <cp:revision>7</cp:revision>
  <dcterms:created xsi:type="dcterms:W3CDTF">2013-01-27T09:14:16Z</dcterms:created>
  <dcterms:modified xsi:type="dcterms:W3CDTF">2026-06-16T04:54:28Z</dcterms:modified>
  <cp:category/>
</cp:coreProperties>
</file>